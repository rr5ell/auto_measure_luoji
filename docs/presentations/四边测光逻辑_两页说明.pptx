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8" r:id="rId2"/>
    <p:sldId id="66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2260" userDrawn="1">
          <p15:clr>
            <a:srgbClr val="A4A3A4"/>
          </p15:clr>
        </p15:guide>
        <p15:guide id="6" orient="horz" pos="35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58"/>
      </p:cViewPr>
      <p:guideLst>
        <p:guide orient="horz" pos="754"/>
        <p:guide pos="551"/>
        <p:guide pos="3840"/>
        <p:guide pos="7129"/>
        <p:guide orient="horz" pos="2260"/>
        <p:guide orient="horz" pos="35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5F0C2-B0C2-41F3-80BC-56508D2B375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87EE7-3CBF-4078-8869-0D8B5C5DC20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第一页讲解与代码核对</a:t>
            </a:r>
            <a:r>
              <a:rPr lang="en-US" altLang="zh-CN"/>
              <a:t>】
</a:t>
            </a:r>
            <a:r>
              <a:rPr lang="zh-CN" altLang="en-US"/>
              <a:t>范围：当前逆光平衡 </a:t>
            </a:r>
            <a:r>
              <a:rPr lang="en-US" altLang="zh-CN"/>
              <a:t>BACKLIGHT_BALANCE </a:t>
            </a:r>
            <a:r>
              <a:rPr lang="zh-CN" altLang="en-US"/>
              <a:t>的五区采集统计，非 </a:t>
            </a:r>
            <a:r>
              <a:rPr lang="en-US" altLang="zh-CN"/>
              <a:t>Camera2 </a:t>
            </a:r>
            <a:r>
              <a:rPr lang="zh-CN" altLang="en-US"/>
              <a:t>中心 </a:t>
            </a:r>
            <a:r>
              <a:rPr lang="en-US" altLang="zh-CN"/>
              <a:t>AE </a:t>
            </a:r>
            <a:r>
              <a:rPr lang="zh-CN" altLang="en-US"/>
              <a:t>区域开关。按提交 </a:t>
            </a:r>
            <a:r>
              <a:rPr lang="en-US" altLang="zh-CN"/>
              <a:t>fb348fb </a:t>
            </a:r>
            <a:r>
              <a:rPr lang="zh-CN" altLang="en-US"/>
              <a:t>核对。
</a:t>
            </a:r>
            <a:r>
              <a:rPr lang="en-US" altLang="zh-CN"/>
              <a:t>1. </a:t>
            </a:r>
            <a:r>
              <a:rPr lang="zh-CN" altLang="en-US"/>
              <a:t>归一化坐标 </a:t>
            </a:r>
            <a:r>
              <a:rPr lang="en-US" altLang="zh-CN"/>
              <a:t>u=(x+0.5)/W,v=(y+0.5)/H</a:t>
            </a:r>
            <a:r>
              <a:rPr lang="zh-CN" altLang="en-US"/>
              <a:t>。</a:t>
            </a:r>
            <a:r>
              <a:rPr lang="en-US" altLang="zh-CN"/>
              <a:t>dx=u-0.5,dy=v-0.5</a:t>
            </a:r>
            <a:r>
              <a:rPr lang="zh-CN" altLang="en-US"/>
              <a:t>。
</a:t>
            </a:r>
            <a:r>
              <a:rPr lang="en-US" altLang="zh-CN"/>
              <a:t>|dx|&lt;=0.15 </a:t>
            </a:r>
            <a:r>
              <a:rPr lang="zh-CN" altLang="en-US"/>
              <a:t>且 </a:t>
            </a:r>
            <a:r>
              <a:rPr lang="en-US" altLang="zh-CN"/>
              <a:t>|dy|&lt;=0.15 </a:t>
            </a:r>
            <a:r>
              <a:rPr lang="zh-CN" altLang="en-US"/>
              <a:t>归中心；否则 </a:t>
            </a:r>
            <a:r>
              <a:rPr lang="en-US" altLang="zh-CN"/>
              <a:t>|dx|&gt;|dy| </a:t>
            </a:r>
            <a:r>
              <a:rPr lang="zh-CN" altLang="en-US"/>
              <a:t>按 </a:t>
            </a:r>
            <a:r>
              <a:rPr lang="en-US" altLang="zh-CN"/>
              <a:t>dx </a:t>
            </a:r>
            <a:r>
              <a:rPr lang="zh-CN" altLang="en-US"/>
              <a:t>的符号归左</a:t>
            </a:r>
            <a:r>
              <a:rPr lang="en-US" altLang="zh-CN"/>
              <a:t>/</a:t>
            </a:r>
            <a:r>
              <a:rPr lang="zh-CN" altLang="en-US"/>
              <a:t>右，否则按 </a:t>
            </a:r>
            <a:r>
              <a:rPr lang="en-US" altLang="zh-CN"/>
              <a:t>dy </a:t>
            </a:r>
            <a:r>
              <a:rPr lang="zh-CN" altLang="en-US"/>
              <a:t>归上</a:t>
            </a:r>
            <a:r>
              <a:rPr lang="en-US" altLang="zh-CN"/>
              <a:t>/</a:t>
            </a:r>
            <a:r>
              <a:rPr lang="zh-CN" altLang="en-US"/>
              <a:t>下。相等的对角边界归上</a:t>
            </a:r>
            <a:r>
              <a:rPr lang="en-US" altLang="zh-CN"/>
              <a:t>/</a:t>
            </a:r>
            <a:r>
              <a:rPr lang="zh-CN" altLang="en-US"/>
              <a:t>下，不重复计数。随后按 </a:t>
            </a:r>
            <a:r>
              <a:rPr lang="en-US" altLang="zh-CN"/>
              <a:t>SENSOR_ORIENTATION 0/90/180/270 </a:t>
            </a:r>
            <a:r>
              <a:rPr lang="zh-CN" altLang="en-US"/>
              <a:t>度置换标签。中心面积</a:t>
            </a:r>
            <a:r>
              <a:rPr lang="en-US" altLang="zh-CN"/>
              <a:t>0.3×0.3=9%</a:t>
            </a:r>
            <a:r>
              <a:rPr lang="zh-CN" altLang="en-US"/>
              <a:t>，每边</a:t>
            </a:r>
            <a:r>
              <a:rPr lang="en-US" altLang="zh-CN"/>
              <a:t>(1+0.3)×0.35/2=22.75%</a:t>
            </a:r>
            <a:r>
              <a:rPr lang="zh-CN" altLang="en-US"/>
              <a:t>。依赖项目锁定竖屏后摄，不包含 </a:t>
            </a:r>
            <a:r>
              <a:rPr lang="en-US" altLang="zh-CN"/>
              <a:t>UI </a:t>
            </a:r>
            <a:r>
              <a:rPr lang="zh-CN" altLang="en-US"/>
              <a:t>平移、纯 </a:t>
            </a:r>
            <a:r>
              <a:rPr lang="en-US" altLang="zh-CN"/>
              <a:t>UI </a:t>
            </a:r>
            <a:r>
              <a:rPr lang="zh-CN" altLang="en-US"/>
              <a:t>放大或运动补偿，不能直接推广到任意显示坐标。
</a:t>
            </a:r>
            <a:r>
              <a:rPr lang="en-US" altLang="zh-CN"/>
              <a:t>2. </a:t>
            </a:r>
            <a:r>
              <a:rPr lang="zh-CN" altLang="en-US"/>
              <a:t>统计发生在 </a:t>
            </a:r>
            <a:r>
              <a:rPr lang="en-US" altLang="zh-CN"/>
              <a:t>YUV </a:t>
            </a:r>
            <a:r>
              <a:rPr lang="zh-CN" altLang="en-US"/>
              <a:t>分析流中，不转换 </a:t>
            </a:r>
            <a:r>
              <a:rPr lang="en-US" altLang="zh-CN"/>
              <a:t>RGB</a:t>
            </a:r>
            <a:r>
              <a:rPr lang="zh-CN" altLang="en-US"/>
              <a:t>、不修改图像、不占用模型工作线程。最多 </a:t>
            </a:r>
            <a:r>
              <a:rPr lang="en-US" altLang="zh-CN"/>
              <a:t>min(W,64)×min(H,48) </a:t>
            </a:r>
            <a:r>
              <a:rPr lang="zh-CN" altLang="en-US"/>
              <a:t>个网格中心点，尊重 </a:t>
            </a:r>
            <a:r>
              <a:rPr lang="en-US" altLang="zh-CN"/>
              <a:t>ByteBuffer.position</a:t>
            </a:r>
            <a:r>
              <a:rPr lang="zh-CN" altLang="en-US"/>
              <a:t>、</a:t>
            </a:r>
            <a:r>
              <a:rPr lang="en-US" altLang="zh-CN"/>
              <a:t>rowStride</a:t>
            </a:r>
            <a:r>
              <a:rPr lang="zh-CN" altLang="en-US"/>
              <a:t>、</a:t>
            </a:r>
            <a:r>
              <a:rPr lang="en-US" altLang="zh-CN"/>
              <a:t>pixelStride</a:t>
            </a:r>
            <a:r>
              <a:rPr lang="zh-CN" altLang="en-US"/>
              <a:t>。相机回调最短间隔</a:t>
            </a:r>
            <a:r>
              <a:rPr lang="en-US" altLang="zh-CN"/>
              <a:t>500ms</a:t>
            </a:r>
            <a:r>
              <a:rPr lang="zh-CN" altLang="en-US"/>
              <a:t>，</a:t>
            </a:r>
            <a:r>
              <a:rPr lang="en-US" altLang="zh-CN"/>
              <a:t>UI</a:t>
            </a:r>
            <a:r>
              <a:rPr lang="zh-CN" altLang="en-US"/>
              <a:t>策略轮询</a:t>
            </a:r>
            <a:r>
              <a:rPr lang="en-US" altLang="zh-CN"/>
              <a:t>500ms</a:t>
            </a:r>
            <a:r>
              <a:rPr lang="zh-CN" altLang="en-US"/>
              <a:t>，不保证严格等周期。
</a:t>
            </a:r>
            <a:r>
              <a:rPr lang="en-US" altLang="zh-CN"/>
              <a:t>3. </a:t>
            </a:r>
            <a:r>
              <a:rPr lang="zh-CN" altLang="en-US"/>
              <a:t>每区直方图两端各去 </a:t>
            </a:r>
            <a:r>
              <a:rPr lang="en-US" altLang="zh-CN"/>
              <a:t>floor(N_i/20) </a:t>
            </a:r>
            <a:r>
              <a:rPr lang="zh-CN" altLang="en-US"/>
              <a:t>个样本，按剩余样本求均值 </a:t>
            </a:r>
            <a:r>
              <a:rPr lang="en-US" altLang="zh-CN"/>
              <a:t>Mi</a:t>
            </a:r>
            <a:r>
              <a:rPr lang="zh-CN" altLang="en-US"/>
              <a:t>。高亮占比、</a:t>
            </a:r>
            <a:r>
              <a:rPr lang="en-US" altLang="zh-CN"/>
              <a:t>P20</a:t>
            </a:r>
            <a:r>
              <a:rPr lang="zh-CN" altLang="en-US"/>
              <a:t>、</a:t>
            </a:r>
            <a:r>
              <a:rPr lang="en-US" altLang="zh-CN"/>
              <a:t>P99</a:t>
            </a:r>
            <a:r>
              <a:rPr lang="zh-CN" altLang="en-US"/>
              <a:t>仍用未截尾采样，不可混用。
</a:t>
            </a:r>
            <a:r>
              <a:rPr lang="en-US" altLang="zh-CN"/>
              <a:t>4. G</a:t>
            </a:r>
            <a:r>
              <a:rPr lang="zh-CN" altLang="en-US"/>
              <a:t>为固定区域权重的几何平均，先把</a:t>
            </a:r>
            <a:r>
              <a:rPr lang="en-US" altLang="zh-CN"/>
              <a:t>Mi</a:t>
            </a:r>
            <a:r>
              <a:rPr lang="zh-CN" altLang="en-US"/>
              <a:t>限制为至少</a:t>
            </a:r>
            <a:r>
              <a:rPr lang="en-US" altLang="zh-CN"/>
              <a:t>1</a:t>
            </a:r>
            <a:r>
              <a:rPr lang="zh-CN" altLang="en-US"/>
              <a:t>；全黑时</a:t>
            </a:r>
            <a:r>
              <a:rPr lang="en-US" altLang="zh-CN"/>
              <a:t>G=1</a:t>
            </a:r>
            <a:r>
              <a:rPr lang="zh-CN" altLang="en-US"/>
              <a:t>，并非</a:t>
            </a:r>
            <a:r>
              <a:rPr lang="en-US" altLang="zh-CN"/>
              <a:t>0</a:t>
            </a:r>
            <a:r>
              <a:rPr lang="zh-CN" altLang="en-US"/>
              <a:t>。权重中心</a:t>
            </a:r>
            <a:r>
              <a:rPr lang="en-US" altLang="zh-CN"/>
              <a:t>0.4</a:t>
            </a:r>
            <a:r>
              <a:rPr lang="zh-CN" altLang="en-US"/>
              <a:t>、四边各</a:t>
            </a:r>
            <a:r>
              <a:rPr lang="en-US" altLang="zh-CN"/>
              <a:t>0.15</a:t>
            </a:r>
            <a:r>
              <a:rPr lang="zh-CN" altLang="en-US"/>
              <a:t>，不再乘面积。减弱单个亮区域影响不意味着识别天空。
</a:t>
            </a:r>
            <a:r>
              <a:rPr lang="en-US" altLang="zh-CN"/>
              <a:t>5. P20</a:t>
            </a:r>
            <a:r>
              <a:rPr lang="zh-CN" altLang="en-US"/>
              <a:t>取中心亮度从暗到亮排序后第</a:t>
            </a:r>
            <a:r>
              <a:rPr lang="en-US" altLang="zh-CN"/>
              <a:t>ceil(0.20N)</a:t>
            </a:r>
            <a:r>
              <a:rPr lang="zh-CN" altLang="en-US"/>
              <a:t>个值，</a:t>
            </a:r>
            <a:r>
              <a:rPr lang="en-US" altLang="zh-CN"/>
              <a:t>P99</a:t>
            </a:r>
            <a:r>
              <a:rPr lang="zh-CN" altLang="en-US"/>
              <a:t>取全图第</a:t>
            </a:r>
            <a:r>
              <a:rPr lang="en-US" altLang="zh-CN"/>
              <a:t>ceil(0.99N)</a:t>
            </a:r>
            <a:r>
              <a:rPr lang="zh-CN" altLang="en-US"/>
              <a:t>个值。中心</a:t>
            </a:r>
            <a:r>
              <a:rPr lang="en-US" altLang="zh-CN"/>
              <a:t>100</a:t>
            </a:r>
            <a:r>
              <a:rPr lang="zh-CN" altLang="en-US"/>
              <a:t>点时</a:t>
            </a:r>
            <a:r>
              <a:rPr lang="en-US" altLang="zh-CN"/>
              <a:t>P20</a:t>
            </a:r>
            <a:r>
              <a:rPr lang="zh-CN" altLang="en-US"/>
              <a:t>是第</a:t>
            </a:r>
            <a:r>
              <a:rPr lang="en-US" altLang="zh-CN"/>
              <a:t>20</a:t>
            </a:r>
            <a:r>
              <a:rPr lang="zh-CN" altLang="en-US"/>
              <a:t>个，不是最暗</a:t>
            </a:r>
            <a:r>
              <a:rPr lang="en-US" altLang="zh-CN"/>
              <a:t>20</a:t>
            </a:r>
            <a:r>
              <a:rPr lang="zh-CN" altLang="en-US"/>
              <a:t>点的平均值。任一区无采样则五区统计无效，不驱动曝光。
</a:t>
            </a:r>
            <a:r>
              <a:rPr lang="en-US" altLang="zh-CN"/>
              <a:t>6. qi=</a:t>
            </a:r>
            <a:r>
              <a:rPr lang="zh-CN" altLang="en-US"/>
              <a:t>该区</a:t>
            </a:r>
            <a:r>
              <a:rPr lang="en-US" altLang="zh-CN"/>
              <a:t>Y&gt;=235</a:t>
            </a:r>
            <a:r>
              <a:rPr lang="zh-CN" altLang="en-US"/>
              <a:t>的数量</a:t>
            </a:r>
            <a:r>
              <a:rPr lang="en-US" altLang="zh-CN"/>
              <a:t>/</a:t>
            </a:r>
            <a:r>
              <a:rPr lang="zh-CN" altLang="en-US"/>
              <a:t>该区总数，</a:t>
            </a:r>
            <a:r>
              <a:rPr lang="en-US" altLang="zh-CN"/>
              <a:t>H=</a:t>
            </a:r>
            <a:r>
              <a:rPr lang="zh-CN" altLang="en-US"/>
              <a:t>加权高亮占比</a:t>
            </a:r>
            <a:r>
              <a:rPr lang="en-US" altLang="zh-CN"/>
              <a:t>&gt;=0.35 </a:t>
            </a:r>
            <a:r>
              <a:rPr lang="zh-CN" altLang="en-US"/>
              <a:t>或至少</a:t>
            </a:r>
            <a:r>
              <a:rPr lang="en-US" altLang="zh-CN"/>
              <a:t>3</a:t>
            </a:r>
            <a:r>
              <a:rPr lang="zh-CN" altLang="en-US"/>
              <a:t>区</a:t>
            </a:r>
            <a:r>
              <a:rPr lang="en-US" altLang="zh-CN"/>
              <a:t>qi&gt;=0.25</a:t>
            </a:r>
            <a:r>
              <a:rPr lang="zh-CN" altLang="en-US"/>
              <a:t>。</a:t>
            </a:r>
            <a:r>
              <a:rPr lang="en-US" altLang="zh-CN"/>
              <a:t>SDR</a:t>
            </a:r>
            <a:r>
              <a:rPr lang="zh-CN" altLang="en-US"/>
              <a:t>有限范围接近白端，全范围约</a:t>
            </a:r>
            <a:r>
              <a:rPr lang="en-US" altLang="zh-CN"/>
              <a:t>92%</a:t>
            </a:r>
            <a:r>
              <a:rPr lang="zh-CN" altLang="en-US"/>
              <a:t>；不能由此断言</a:t>
            </a:r>
            <a:r>
              <a:rPr lang="en-US" altLang="zh-CN"/>
              <a:t>RAW</a:t>
            </a:r>
            <a:r>
              <a:rPr lang="zh-CN" altLang="en-US"/>
              <a:t>饱和或传感器过曝。
源文件（项目 </a:t>
            </a:r>
            <a:r>
              <a:rPr lang="en-US" altLang="zh-CN"/>
              <a:t>feature/camera/domain/backlightbalance</a:t>
            </a:r>
            <a:r>
              <a:rPr lang="zh-CN" altLang="en-US"/>
              <a:t>）：
</a:t>
            </a:r>
            <a:r>
              <a:rPr lang="en-US" altLang="zh-CN"/>
              <a:t>RegionalMetering.kt</a:t>
            </a:r>
            <a:r>
              <a:rPr lang="zh-CN" altLang="en-US"/>
              <a:t>、</a:t>
            </a:r>
            <a:r>
              <a:rPr lang="en-US" altLang="zh-CN"/>
              <a:t>HighlightStatistics.kt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87EE7-3CBF-4078-8869-0D8B5C5DC2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78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第二页讲解与精确边界</a:t>
            </a:r>
            <a:r>
              <a:rPr lang="en-US" altLang="zh-CN"/>
              <a:t>】
1. s</a:t>
            </a:r>
            <a:r>
              <a:rPr lang="zh-CN" altLang="en-US"/>
              <a:t>为设备曝光补偿步进，硬件整数档位</a:t>
            </a:r>
            <a:r>
              <a:rPr lang="en-US" altLang="zh-CN"/>
              <a:t>b=range.indexFor(manualEv)</a:t>
            </a:r>
            <a:r>
              <a:rPr lang="zh-CN" altLang="en-US"/>
              <a:t>为基线，当前档位</a:t>
            </a:r>
            <a:r>
              <a:rPr lang="en-US" altLang="zh-CN"/>
              <a:t>k</a:t>
            </a:r>
            <a:r>
              <a:rPr lang="zh-CN" altLang="en-US"/>
              <a:t>初值</a:t>
            </a:r>
            <a:r>
              <a:rPr lang="en-US" altLang="zh-CN"/>
              <a:t>b</a:t>
            </a:r>
            <a:r>
              <a:rPr lang="zh-CN" altLang="en-US"/>
              <a:t>。步幅档数</a:t>
            </a:r>
            <a:r>
              <a:rPr lang="en-US" altLang="zh-CN"/>
              <a:t>n=max(1,ceil((1/3)/s-0.001))</a:t>
            </a:r>
            <a:r>
              <a:rPr lang="zh-CN" altLang="en-US"/>
              <a:t>，</a:t>
            </a:r>
            <a:r>
              <a:rPr lang="en-US" altLang="zh-CN"/>
              <a:t>Δ=n*s</a:t>
            </a:r>
            <a:r>
              <a:rPr lang="zh-CN" altLang="en-US"/>
              <a:t>。</a:t>
            </a:r>
            <a:r>
              <a:rPr lang="en-US" altLang="zh-CN"/>
              <a:t>0.001</a:t>
            </a:r>
            <a:r>
              <a:rPr lang="zh-CN" altLang="en-US"/>
              <a:t>仅处理浮点边界。
下限</a:t>
            </a:r>
            <a:r>
              <a:rPr lang="en-US" altLang="zh-CN"/>
              <a:t>=max(</a:t>
            </a:r>
            <a:r>
              <a:rPr lang="zh-CN" altLang="en-US"/>
              <a:t>硬件最小档</a:t>
            </a:r>
            <a:r>
              <a:rPr lang="en-US" altLang="zh-CN"/>
              <a:t>,b-floor((2/3+0.0001)/s))</a:t>
            </a:r>
            <a:r>
              <a:rPr lang="zh-CN" altLang="en-US"/>
              <a:t>；
上限</a:t>
            </a:r>
            <a:r>
              <a:rPr lang="en-US" altLang="zh-CN"/>
              <a:t>=min(</a:t>
            </a:r>
            <a:r>
              <a:rPr lang="zh-CN" altLang="en-US"/>
              <a:t>硬件最大档</a:t>
            </a:r>
            <a:r>
              <a:rPr lang="en-US" altLang="zh-CN"/>
              <a:t>,b+floor((1+0.0001)/s))</a:t>
            </a:r>
            <a:r>
              <a:rPr lang="zh-CN" altLang="en-US"/>
              <a:t>。
例如</a:t>
            </a:r>
            <a:r>
              <a:rPr lang="en-US" altLang="zh-CN"/>
              <a:t>s=0.1</a:t>
            </a:r>
            <a:r>
              <a:rPr lang="zh-CN" altLang="en-US"/>
              <a:t>时</a:t>
            </a:r>
            <a:r>
              <a:rPr lang="en-US" altLang="zh-CN"/>
              <a:t>Δ=0.4</a:t>
            </a:r>
            <a:r>
              <a:rPr lang="zh-CN" altLang="en-US"/>
              <a:t>，相对上下限为</a:t>
            </a:r>
            <a:r>
              <a:rPr lang="en-US" altLang="zh-CN"/>
              <a:t>-0.6</a:t>
            </a:r>
            <a:r>
              <a:rPr lang="zh-CN" altLang="en-US"/>
              <a:t>、</a:t>
            </a:r>
            <a:r>
              <a:rPr lang="en-US" altLang="zh-CN"/>
              <a:t>+1.0 EV</a:t>
            </a:r>
            <a:r>
              <a:rPr lang="zh-CN" altLang="en-US"/>
              <a:t>；最后一步按范围截断。</a:t>
            </a:r>
            <a:r>
              <a:rPr lang="en-US" altLang="zh-CN"/>
              <a:t>s</a:t>
            </a:r>
            <a:r>
              <a:rPr lang="zh-CN" altLang="en-US"/>
              <a:t>较粗时可能没有负向可用档位。
</a:t>
            </a:r>
            <a:r>
              <a:rPr lang="en-US" altLang="zh-CN"/>
              <a:t>2. e=ln(112/G)/ln(2)</a:t>
            </a:r>
            <a:r>
              <a:rPr lang="zh-CN" altLang="en-US"/>
              <a:t>，</a:t>
            </a:r>
            <a:r>
              <a:rPr lang="en-US" altLang="zh-CN"/>
              <a:t>d=max(0.35,0.6Δ)</a:t>
            </a:r>
            <a:r>
              <a:rPr lang="zh-CN" altLang="en-US"/>
              <a:t>。仅在无其他保护且未到边界时：</a:t>
            </a:r>
            <a:r>
              <a:rPr lang="en-US" altLang="zh-CN"/>
              <a:t>e&gt;d</a:t>
            </a:r>
            <a:r>
              <a:rPr lang="zh-CN" altLang="en-US"/>
              <a:t>要求提亮，</a:t>
            </a:r>
            <a:r>
              <a:rPr lang="en-US" altLang="zh-CN"/>
              <a:t>e&lt;-d</a:t>
            </a:r>
            <a:r>
              <a:rPr lang="zh-CN" altLang="en-US"/>
              <a:t>要求降曝。</a:t>
            </a:r>
            <a:r>
              <a:rPr lang="en-US" altLang="zh-CN"/>
              <a:t>Δ</a:t>
            </a:r>
            <a:r>
              <a:rPr lang="zh-CN" altLang="en-US"/>
              <a:t>为常见值且</a:t>
            </a:r>
            <a:r>
              <a:rPr lang="en-US" altLang="zh-CN"/>
              <a:t>d=0.35</a:t>
            </a:r>
            <a:r>
              <a:rPr lang="zh-CN" altLang="en-US"/>
              <a:t>时，对应</a:t>
            </a:r>
            <a:r>
              <a:rPr lang="en-US" altLang="zh-CN"/>
              <a:t>G&lt;</a:t>
            </a:r>
            <a:r>
              <a:rPr lang="zh-CN" altLang="en-US"/>
              <a:t>约</a:t>
            </a:r>
            <a:r>
              <a:rPr lang="en-US" altLang="zh-CN"/>
              <a:t>87.87</a:t>
            </a:r>
            <a:r>
              <a:rPr lang="zh-CN" altLang="en-US"/>
              <a:t>与</a:t>
            </a:r>
            <a:r>
              <a:rPr lang="en-US" altLang="zh-CN"/>
              <a:t>G&gt;</a:t>
            </a:r>
            <a:r>
              <a:rPr lang="zh-CN" altLang="en-US"/>
              <a:t>约</a:t>
            </a:r>
            <a:r>
              <a:rPr lang="en-US" altLang="zh-CN"/>
              <a:t>142.75</a:t>
            </a:r>
            <a:r>
              <a:rPr lang="zh-CN" altLang="en-US"/>
              <a:t>；</a:t>
            </a:r>
            <a:r>
              <a:rPr lang="en-US" altLang="zh-CN"/>
              <a:t>e</a:t>
            </a:r>
            <a:r>
              <a:rPr lang="zh-CN" altLang="en-US"/>
              <a:t>等于</a:t>
            </a:r>
            <a:r>
              <a:rPr lang="en-US" altLang="zh-CN"/>
              <a:t>±d</a:t>
            </a:r>
            <a:r>
              <a:rPr lang="zh-CN" altLang="en-US"/>
              <a:t>不按亮度误差触发。</a:t>
            </a:r>
            <a:r>
              <a:rPr lang="en-US" altLang="zh-CN"/>
              <a:t>H</a:t>
            </a:r>
            <a:r>
              <a:rPr lang="zh-CN" altLang="en-US"/>
              <a:t>仍可触发降曝，因此「接近</a:t>
            </a:r>
            <a:r>
              <a:rPr lang="en-US" altLang="zh-CN"/>
              <a:t>112</a:t>
            </a:r>
            <a:r>
              <a:rPr lang="zh-CN" altLang="en-US"/>
              <a:t>必然保持」并不严谨。
</a:t>
            </a:r>
            <a:r>
              <a:rPr lang="en-US" altLang="zh-CN"/>
              <a:t>3. </a:t>
            </a:r>
            <a:r>
              <a:rPr lang="zh-CN" altLang="en-US"/>
              <a:t>先更新中心保护锁存：</a:t>
            </a:r>
            <a:r>
              <a:rPr lang="en-US" altLang="zh-CN"/>
              <a:t>P20&lt;64</a:t>
            </a:r>
            <a:r>
              <a:rPr lang="zh-CN" altLang="en-US"/>
              <a:t>为真，</a:t>
            </a:r>
            <a:r>
              <a:rPr lang="en-US" altLang="zh-CN"/>
              <a:t>P20&gt;=96</a:t>
            </a:r>
            <a:r>
              <a:rPr lang="zh-CN" altLang="en-US"/>
              <a:t>为假，中间保留；初始</a:t>
            </a:r>
            <a:r>
              <a:rPr lang="en-US" altLang="zh-CN"/>
              <a:t>false</a:t>
            </a:r>
            <a:r>
              <a:rPr lang="zh-CN" altLang="en-US"/>
              <a:t>。按页面</a:t>
            </a:r>
            <a:r>
              <a:rPr lang="en-US" altLang="zh-CN"/>
              <a:t>1→5</a:t>
            </a:r>
            <a:r>
              <a:rPr lang="zh-CN" altLang="en-US"/>
              <a:t>顺序匹配，首条命中：
</a:t>
            </a:r>
            <a:r>
              <a:rPr lang="en-US" altLang="zh-CN"/>
              <a:t>(a) P20&lt;40</a:t>
            </a:r>
            <a:r>
              <a:rPr lang="zh-CN" altLang="en-US"/>
              <a:t>且</a:t>
            </a:r>
            <a:r>
              <a:rPr lang="en-US" altLang="zh-CN"/>
              <a:t>k&lt;b</a:t>
            </a:r>
            <a:r>
              <a:rPr lang="zh-CN" altLang="en-US"/>
              <a:t>：方向</a:t>
            </a:r>
            <a:r>
              <a:rPr lang="en-US" altLang="zh-CN"/>
              <a:t>+1</a:t>
            </a:r>
            <a:r>
              <a:rPr lang="zh-CN" altLang="en-US"/>
              <a:t>，优先于</a:t>
            </a:r>
            <a:r>
              <a:rPr lang="en-US" altLang="zh-CN"/>
              <a:t>H</a:t>
            </a:r>
            <a:r>
              <a:rPr lang="zh-CN" altLang="en-US"/>
              <a:t>与</a:t>
            </a:r>
            <a:r>
              <a:rPr lang="en-US" altLang="zh-CN"/>
              <a:t>P99</a:t>
            </a:r>
            <a:r>
              <a:rPr lang="zh-CN" altLang="en-US"/>
              <a:t>；
</a:t>
            </a:r>
            <a:r>
              <a:rPr lang="en-US" altLang="zh-CN"/>
              <a:t>(b) e&gt;d</a:t>
            </a:r>
            <a:r>
              <a:rPr lang="zh-CN" altLang="en-US"/>
              <a:t>且</a:t>
            </a:r>
            <a:r>
              <a:rPr lang="en-US" altLang="zh-CN"/>
              <a:t>H</a:t>
            </a:r>
            <a:r>
              <a:rPr lang="zh-CN" altLang="en-US"/>
              <a:t>：</a:t>
            </a:r>
            <a:r>
              <a:rPr lang="en-US" altLang="zh-CN"/>
              <a:t>0</a:t>
            </a:r>
            <a:r>
              <a:rPr lang="zh-CN" altLang="en-US"/>
              <a:t>；
</a:t>
            </a:r>
            <a:r>
              <a:rPr lang="en-US" altLang="zh-CN"/>
              <a:t>(c) e&gt;d</a:t>
            </a:r>
            <a:r>
              <a:rPr lang="zh-CN" altLang="en-US"/>
              <a:t>且</a:t>
            </a:r>
            <a:r>
              <a:rPr lang="en-US" altLang="zh-CN"/>
              <a:t>k&lt;b</a:t>
            </a:r>
            <a:r>
              <a:rPr lang="zh-CN" altLang="en-US"/>
              <a:t>且</a:t>
            </a:r>
            <a:r>
              <a:rPr lang="en-US" altLang="zh-CN"/>
              <a:t>P99&gt;=T</a:t>
            </a:r>
            <a:r>
              <a:rPr lang="zh-CN" altLang="en-US"/>
              <a:t>：</a:t>
            </a:r>
            <a:r>
              <a:rPr lang="en-US" altLang="zh-CN"/>
              <a:t>0</a:t>
            </a:r>
            <a:r>
              <a:rPr lang="zh-CN" altLang="en-US"/>
              <a:t>；
</a:t>
            </a:r>
            <a:r>
              <a:rPr lang="en-US" altLang="zh-CN"/>
              <a:t>(d) e&gt;d</a:t>
            </a:r>
            <a:r>
              <a:rPr lang="zh-CN" altLang="en-US"/>
              <a:t>且</a:t>
            </a:r>
            <a:r>
              <a:rPr lang="en-US" altLang="zh-CN"/>
              <a:t>k&lt;</a:t>
            </a:r>
            <a:r>
              <a:rPr lang="zh-CN" altLang="en-US"/>
              <a:t>上限：</a:t>
            </a:r>
            <a:r>
              <a:rPr lang="en-US" altLang="zh-CN"/>
              <a:t>+1</a:t>
            </a:r>
            <a:r>
              <a:rPr lang="zh-CN" altLang="en-US"/>
              <a:t>；
</a:t>
            </a:r>
            <a:r>
              <a:rPr lang="en-US" altLang="zh-CN"/>
              <a:t>(e) (e&lt;-d</a:t>
            </a:r>
            <a:r>
              <a:rPr lang="zh-CN" altLang="en-US"/>
              <a:t>或</a:t>
            </a:r>
            <a:r>
              <a:rPr lang="en-US" altLang="zh-CN"/>
              <a:t>H)</a:t>
            </a:r>
            <a:r>
              <a:rPr lang="zh-CN" altLang="en-US"/>
              <a:t>且无中心保护且</a:t>
            </a:r>
            <a:r>
              <a:rPr lang="en-US" altLang="zh-CN"/>
              <a:t>k&gt;</a:t>
            </a:r>
            <a:r>
              <a:rPr lang="zh-CN" altLang="en-US"/>
              <a:t>下限：</a:t>
            </a:r>
            <a:r>
              <a:rPr lang="en-US" altLang="zh-CN"/>
              <a:t>-1</a:t>
            </a:r>
            <a:r>
              <a:rPr lang="zh-CN" altLang="en-US"/>
              <a:t>；
</a:t>
            </a:r>
            <a:r>
              <a:rPr lang="en-US" altLang="zh-CN"/>
              <a:t>(f) </a:t>
            </a:r>
            <a:r>
              <a:rPr lang="zh-CN" altLang="en-US"/>
              <a:t>其他</a:t>
            </a:r>
            <a:r>
              <a:rPr lang="en-US" altLang="zh-CN"/>
              <a:t>0</a:t>
            </a:r>
            <a:r>
              <a:rPr lang="zh-CN" altLang="en-US"/>
              <a:t>。
页面将</a:t>
            </a:r>
            <a:r>
              <a:rPr lang="en-US" altLang="zh-CN"/>
              <a:t>(b)(c)</a:t>
            </a:r>
            <a:r>
              <a:rPr lang="zh-CN" altLang="en-US"/>
              <a:t>合并为一行。</a:t>
            </a:r>
            <a:r>
              <a:rPr lang="en-US" altLang="zh-CN"/>
              <a:t>P20&lt;40</a:t>
            </a:r>
            <a:r>
              <a:rPr lang="zh-CN" altLang="en-US"/>
              <a:t>分支仍需</a:t>
            </a:r>
            <a:r>
              <a:rPr lang="en-US" altLang="zh-CN"/>
              <a:t>3</a:t>
            </a:r>
            <a:r>
              <a:rPr lang="zh-CN" altLang="en-US"/>
              <a:t>条确认与稳定期，并非立即归零；按统一步幅更新，可能跨过手动基线，不能宣称只恢复到基线。
</a:t>
            </a:r>
            <a:r>
              <a:rPr lang="en-US" altLang="zh-CN"/>
              <a:t>4. T=floor(16+219/2^Δ-8)</a:t>
            </a:r>
            <a:r>
              <a:rPr lang="zh-CN" altLang="en-US"/>
              <a:t>。</a:t>
            </a:r>
            <a:r>
              <a:rPr lang="en-US" altLang="zh-CN"/>
              <a:t>Δ=1/3</a:t>
            </a:r>
            <a:r>
              <a:rPr lang="zh-CN" altLang="en-US"/>
              <a:t>时未取整为</a:t>
            </a:r>
            <a:r>
              <a:rPr lang="en-US" altLang="zh-CN"/>
              <a:t>181.8184</a:t>
            </a:r>
            <a:r>
              <a:rPr lang="zh-CN" altLang="en-US"/>
              <a:t>，代码取整后</a:t>
            </a:r>
            <a:r>
              <a:rPr lang="en-US" altLang="zh-CN"/>
              <a:t>181</a:t>
            </a:r>
            <a:r>
              <a:rPr lang="zh-CN" altLang="en-US"/>
              <a:t>；不是此前文字口述的约</a:t>
            </a:r>
            <a:r>
              <a:rPr lang="en-US" altLang="zh-CN"/>
              <a:t>182</a:t>
            </a:r>
            <a:r>
              <a:rPr lang="zh-CN" altLang="en-US"/>
              <a:t>。它是</a:t>
            </a:r>
            <a:r>
              <a:rPr lang="en-US" altLang="zh-CN"/>
              <a:t>SDR</a:t>
            </a:r>
            <a:r>
              <a:rPr lang="zh-CN" altLang="en-US"/>
              <a:t>编码域经验余量，不是精确物理曝光预测。只限制负补偿回升，不限制所有正向提亮；深暗中心优先恢复可绕过该保护。
</a:t>
            </a:r>
            <a:r>
              <a:rPr lang="en-US" altLang="zh-CN"/>
              <a:t>5. </a:t>
            </a:r>
            <a:r>
              <a:rPr lang="zh-CN" altLang="en-US"/>
              <a:t>启动</a:t>
            </a:r>
            <a:r>
              <a:rPr lang="en-US" altLang="zh-CN"/>
              <a:t>/pause</a:t>
            </a:r>
            <a:r>
              <a:rPr lang="zh-CN" altLang="en-US"/>
              <a:t>时清空确认并等待</a:t>
            </a:r>
            <a:r>
              <a:rPr lang="en-US" altLang="zh-CN"/>
              <a:t>1.5s</a:t>
            </a:r>
            <a:r>
              <a:rPr lang="zh-CN" altLang="en-US"/>
              <a:t>。只计时间戳递增、年龄</a:t>
            </a:r>
            <a:r>
              <a:rPr lang="en-US" altLang="zh-CN"/>
              <a:t>&lt;=1.5s</a:t>
            </a:r>
            <a:r>
              <a:rPr lang="zh-CN" altLang="en-US"/>
              <a:t>的有效样本；重复不累计且不直接清空。稳定期内样本不累计。连续</a:t>
            </a:r>
            <a:r>
              <a:rPr lang="en-US" altLang="zh-CN"/>
              <a:t>3</a:t>
            </a:r>
            <a:r>
              <a:rPr lang="zh-CN" altLang="en-US"/>
              <a:t>条同方向确认后，</a:t>
            </a:r>
            <a:r>
              <a:rPr lang="en-US" altLang="zh-CN"/>
              <a:t>k=clamp(k+</a:t>
            </a:r>
            <a:r>
              <a:rPr lang="zh-CN" altLang="en-US"/>
              <a:t>方向*</a:t>
            </a:r>
            <a:r>
              <a:rPr lang="en-US" altLang="zh-CN"/>
              <a:t>n,</a:t>
            </a:r>
            <a:r>
              <a:rPr lang="zh-CN" altLang="en-US"/>
              <a:t>下限</a:t>
            </a:r>
            <a:r>
              <a:rPr lang="en-US" altLang="zh-CN"/>
              <a:t>,</a:t>
            </a:r>
            <a:r>
              <a:rPr lang="zh-CN" altLang="en-US"/>
              <a:t>上限</a:t>
            </a:r>
            <a:r>
              <a:rPr lang="en-US" altLang="zh-CN"/>
              <a:t>)</a:t>
            </a:r>
            <a:r>
              <a:rPr lang="zh-CN" altLang="en-US"/>
              <a:t>，清计数并再等待</a:t>
            </a:r>
            <a:r>
              <a:rPr lang="en-US" altLang="zh-CN"/>
              <a:t>1.5s</a:t>
            </a:r>
            <a:r>
              <a:rPr lang="zh-CN" altLang="en-US"/>
              <a:t>。方向改变时本条作为新方向第</a:t>
            </a:r>
            <a:r>
              <a:rPr lang="en-US" altLang="zh-CN"/>
              <a:t>1</a:t>
            </a:r>
            <a:r>
              <a:rPr lang="zh-CN" altLang="en-US"/>
              <a:t>条，保持则清零。不是每</a:t>
            </a:r>
            <a:r>
              <a:rPr lang="en-US" altLang="zh-CN"/>
              <a:t>1.5s</a:t>
            </a:r>
            <a:r>
              <a:rPr lang="zh-CN" altLang="en-US"/>
              <a:t>固定改变一次。
</a:t>
            </a:r>
            <a:r>
              <a:rPr lang="en-US" altLang="zh-CN"/>
              <a:t>6. CameraScreen</a:t>
            </a:r>
            <a:r>
              <a:rPr lang="zh-CN" altLang="en-US"/>
              <a:t>关闭或切换模式恢复手动</a:t>
            </a:r>
            <a:r>
              <a:rPr lang="en-US" altLang="zh-CN"/>
              <a:t>EV</a:t>
            </a:r>
            <a:r>
              <a:rPr lang="zh-CN" altLang="en-US"/>
              <a:t>基线；无效</a:t>
            </a:r>
            <a:r>
              <a:rPr lang="en-US" altLang="zh-CN"/>
              <a:t>/</a:t>
            </a:r>
            <a:r>
              <a:rPr lang="zh-CN" altLang="en-US"/>
              <a:t>过期统计撤销已有正负补偿。进入参数面板、校准</a:t>
            </a:r>
            <a:r>
              <a:rPr lang="en-US" altLang="zh-CN"/>
              <a:t>/</a:t>
            </a:r>
            <a:r>
              <a:rPr lang="zh-CN" altLang="en-US"/>
              <a:t>后台等有重启</a:t>
            </a:r>
            <a:r>
              <a:rPr lang="en-US" altLang="zh-CN"/>
              <a:t>/</a:t>
            </a:r>
            <a:r>
              <a:rPr lang="zh-CN" altLang="en-US"/>
              <a:t>暂停逻辑；测量等业务冻结调整。点击测光及手动快门暂停五区自动</a:t>
            </a:r>
            <a:r>
              <a:rPr lang="en-US" altLang="zh-CN"/>
              <a:t>EV</a:t>
            </a:r>
            <a:r>
              <a:rPr lang="zh-CN" altLang="en-US"/>
              <a:t>；手动快门</a:t>
            </a:r>
            <a:r>
              <a:rPr lang="en-US" altLang="zh-CN"/>
              <a:t>AE_OFF</a:t>
            </a:r>
            <a:r>
              <a:rPr lang="zh-CN" altLang="en-US"/>
              <a:t>，不能再由</a:t>
            </a:r>
            <a:r>
              <a:rPr lang="en-US" altLang="zh-CN"/>
              <a:t>EV</a:t>
            </a:r>
            <a:r>
              <a:rPr lang="zh-CN" altLang="en-US"/>
              <a:t>闭环控制。逆光平衡运行时暂停自动</a:t>
            </a:r>
            <a:r>
              <a:rPr lang="en-US" altLang="zh-CN"/>
              <a:t>HDR</a:t>
            </a:r>
            <a:r>
              <a:rPr lang="zh-CN" altLang="en-US"/>
              <a:t>判断，保留</a:t>
            </a:r>
            <a:r>
              <a:rPr lang="en-US" altLang="zh-CN"/>
              <a:t>HDR</a:t>
            </a:r>
            <a:r>
              <a:rPr lang="zh-CN" altLang="en-US"/>
              <a:t>状态与偏好；无</a:t>
            </a:r>
            <a:r>
              <a:rPr lang="en-US" altLang="zh-CN"/>
              <a:t>EV</a:t>
            </a:r>
            <a:r>
              <a:rPr lang="zh-CN" altLang="en-US"/>
              <a:t>能力或分析流时仅保留显示映射。
</a:t>
            </a:r>
            <a:r>
              <a:rPr lang="en-US" altLang="zh-CN"/>
              <a:t>7. </a:t>
            </a:r>
            <a:r>
              <a:rPr lang="zh-CN" altLang="en-US"/>
              <a:t>最终调用</a:t>
            </a:r>
            <a:r>
              <a:rPr lang="en-US" altLang="zh-CN"/>
              <a:t>setExposureCompensationEv</a:t>
            </a:r>
            <a:r>
              <a:rPr lang="zh-CN" altLang="en-US"/>
              <a:t>，实际</a:t>
            </a:r>
            <a:r>
              <a:rPr lang="en-US" altLang="zh-CN"/>
              <a:t>ISO/</a:t>
            </a:r>
            <a:r>
              <a:rPr lang="zh-CN" altLang="en-US"/>
              <a:t>快门交给</a:t>
            </a:r>
            <a:r>
              <a:rPr lang="en-US" altLang="zh-CN"/>
              <a:t>AE</a:t>
            </a:r>
            <a:r>
              <a:rPr lang="zh-CN" altLang="en-US"/>
              <a:t>，并受厂商策略、帧率、硬件范围限制。读数受</a:t>
            </a:r>
            <a:r>
              <a:rPr lang="en-US" altLang="zh-CN"/>
              <a:t>ISP</a:t>
            </a:r>
            <a:r>
              <a:rPr lang="zh-CN" altLang="en-US"/>
              <a:t>色调处理影响，此闭环不是线性传感器控制。显示增强独立于此曝光闭环，不能恢复剪切、噪声淹没的纹理，不能保证模型效果。
源文件：
</a:t>
            </a:r>
            <a:r>
              <a:rPr lang="en-US" altLang="zh-CN"/>
              <a:t>feature/camera/domain/backlightbalance/HighlightExposurePolicy.kt
feature/camera/ui/CameraScreen.kt</a:t>
            </a:r>
            <a:r>
              <a:rPr lang="zh-CN" altLang="en-US"/>
              <a:t>（五区协程）
作者：</a:t>
            </a:r>
            <a:r>
              <a:rPr lang="en-US" altLang="zh-CN"/>
              <a:t>Codex Agent</a:t>
            </a:r>
            <a:r>
              <a:rPr lang="zh-CN" altLang="en-US"/>
              <a:t>；</a:t>
            </a:r>
            <a:r>
              <a:rPr lang="en-US" altLang="zh-CN"/>
              <a:t>2026-09-22</a:t>
            </a:r>
            <a:r>
              <a:rPr lang="zh-CN" altLang="en-US"/>
              <a:t>；代码版本</a:t>
            </a:r>
            <a:r>
              <a:rPr lang="en-US" altLang="zh-CN"/>
              <a:t>fb348fb</a:t>
            </a:r>
            <a:r>
              <a:rPr lang="zh-CN" altLang="en-US"/>
              <a:t>。未修改相机算法，未开启</a:t>
            </a:r>
            <a:r>
              <a:rPr lang="en-US" altLang="zh-CN"/>
              <a:t>EIS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87EE7-3CBF-4078-8869-0D8B5C5DC20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074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1212513" y="488950"/>
            <a:ext cx="336550" cy="336550"/>
          </a:xfrm>
          <a:prstGeom prst="ellipse">
            <a:avLst/>
          </a:prstGeom>
          <a:solidFill>
            <a:srgbClr val="EA5818"/>
          </a:solidFill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나눔바른고딕"/>
            </a:endParaRPr>
          </a:p>
        </p:txBody>
      </p:sp>
      <p:sp>
        <p:nvSpPr>
          <p:cNvPr id="3" name="Oval 13"/>
          <p:cNvSpPr/>
          <p:nvPr/>
        </p:nvSpPr>
        <p:spPr>
          <a:xfrm>
            <a:off x="11164888" y="439738"/>
            <a:ext cx="431800" cy="431800"/>
          </a:xfrm>
          <a:prstGeom prst="ellipse">
            <a:avLst/>
          </a:prstGeom>
          <a:noFill/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나눔바른고딕"/>
            </a:endParaRPr>
          </a:p>
        </p:txBody>
      </p:sp>
      <p:sp>
        <p:nvSpPr>
          <p:cNvPr id="7" name="Round Same Side Corner Rectangle 4"/>
          <p:cNvSpPr/>
          <p:nvPr/>
        </p:nvSpPr>
        <p:spPr>
          <a:xfrm rot="5400000">
            <a:off x="264319" y="111919"/>
            <a:ext cx="576263" cy="11049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Round Same Side Corner Rectangle 14"/>
          <p:cNvSpPr/>
          <p:nvPr/>
        </p:nvSpPr>
        <p:spPr>
          <a:xfrm rot="5400000">
            <a:off x="287338" y="138113"/>
            <a:ext cx="481013" cy="105568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5818"/>
          </a:solidFill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Oval 15"/>
          <p:cNvSpPr/>
          <p:nvPr/>
        </p:nvSpPr>
        <p:spPr>
          <a:xfrm>
            <a:off x="614363" y="465138"/>
            <a:ext cx="400050" cy="40005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156618" y="1132372"/>
            <a:ext cx="9691911" cy="516552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p"/>
              <a:defRPr sz="1400" b="0" i="0" spc="27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lt"/>
                <a:cs typeface="Times New Roman" panose="02020603050405020304" pitchFamily="18" charset="0"/>
              </a:defRPr>
            </a:lvl1pPr>
            <a:lvl2pPr marL="685800" indent="-228600"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sz="1200" b="0" i="0">
                <a:latin typeface="+mn-lt"/>
                <a:ea typeface="+mn-lt"/>
                <a:cs typeface="Times New Roman" panose="02020603050405020304" pitchFamily="18" charset="0"/>
              </a:defRPr>
            </a:lvl2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1140461" y="431947"/>
            <a:ext cx="4925907" cy="424732"/>
          </a:xfrm>
          <a:prstGeom prst="rect">
            <a:avLst/>
          </a:prstGeom>
        </p:spPr>
        <p:txBody>
          <a:bodyPr rtlCol="0">
            <a:spAutoFit/>
          </a:bodyPr>
          <a:lstStyle>
            <a:lvl1pPr algn="l">
              <a:defRPr sz="2400" b="1" i="0" spc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3775" y="530225"/>
            <a:ext cx="460375" cy="250825"/>
          </a:xfrm>
          <a:prstGeom prst="rect">
            <a:avLst/>
          </a:prstGeom>
        </p:spPr>
        <p:txBody>
          <a:bodyPr vert="horz" wrap="square" lIns="0" tIns="0" rIns="36000" bIns="0" numCol="1" anchor="ctr" anchorCtr="0" compatLnSpc="1"/>
          <a:lstStyle/>
          <a:p>
            <a:pPr algn="ctr" eaLnBrk="1" fontAlgn="base" hangingPunct="1"/>
            <a:fld id="{9A0DB2DC-4C9A-4742-B13C-FB6460FD3503}" type="slidenum">
              <a:rPr lang="en-US" altLang="zh-CN" sz="1300" strike="noStrike" noProof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zh-CN" sz="13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5324949" y="2892949"/>
            <a:ext cx="3057051" cy="831125"/>
          </a:xfrm>
          <a:prstGeom prst="rect">
            <a:avLst/>
          </a:prstGeom>
        </p:spPr>
        <p:txBody>
          <a:bodyPr rtlCol="0">
            <a:spAutoFit/>
          </a:bodyPr>
          <a:lstStyle>
            <a:lvl1pPr algn="l">
              <a:defRPr sz="2665" b="1" i="1" spc="40">
                <a:solidFill>
                  <a:srgbClr val="EC6B56"/>
                </a:solidFill>
              </a:defRPr>
            </a:lvl1pPr>
          </a:lstStyle>
          <a:p>
            <a:pPr fontAlgn="base"/>
            <a:r>
              <a:rPr lang="zh-CN" altLang="en-US" sz="2665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321576" y="3429179"/>
            <a:ext cx="2649169" cy="294302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lvl1pPr marL="0" indent="0">
              <a:buNone/>
              <a:defRPr sz="1600" spc="27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*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53775" y="470759"/>
            <a:ext cx="499745" cy="356328"/>
          </a:xfrm>
        </p:spPr>
        <p:txBody>
          <a:bodyPr/>
          <a:lstStyle/>
          <a:p>
            <a:pPr algn="ctr" eaLnBrk="1" fontAlgn="base" hangingPunct="1"/>
            <a:r>
              <a:rPr lang="en-US" altLang="zh-CN" sz="13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lang="en-US" altLang="zh-CN" sz="13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1142999" y="471117"/>
            <a:ext cx="9715500" cy="378565"/>
          </a:xfrm>
        </p:spPr>
        <p:txBody>
          <a:bodyPr lIns="0" tIns="0"/>
          <a:lstStyle/>
          <a:p>
            <a:r>
              <a:rPr lang="zh-CN" altLang="en-US">
                <a:solidFill>
                  <a:srgbClr val="252A30"/>
                </a:solidFill>
                <a:latin typeface="微软雅黑" panose="020B0503020204020204" pitchFamily="34" charset="-122"/>
              </a:rPr>
              <a:t>四边测光逻辑：五区划分与亮度统计</a:t>
            </a:r>
            <a:endParaRPr lang="ko-KR" altLang="en-US">
              <a:solidFill>
                <a:srgbClr val="252A3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分区标题">
            <a:extLst>
              <a:ext uri="{FF2B5EF4-FFF2-40B4-BE49-F238E27FC236}">
                <a16:creationId xmlns:a16="http://schemas.microsoft.com/office/drawing/2014/main" id="{CA1AC057-3BC3-A45E-5D4A-E4419670E734}"/>
              </a:ext>
            </a:extLst>
          </p:cNvPr>
          <p:cNvSpPr txBox="1"/>
          <p:nvPr/>
        </p:nvSpPr>
        <p:spPr>
          <a:xfrm>
            <a:off x="698500" y="1130299"/>
            <a:ext cx="4254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五区划分：面积不等于权重</a:t>
            </a:r>
          </a:p>
        </p:txBody>
      </p:sp>
      <p:sp>
        <p:nvSpPr>
          <p:cNvPr id="4" name="统计标题">
            <a:extLst>
              <a:ext uri="{FF2B5EF4-FFF2-40B4-BE49-F238E27FC236}">
                <a16:creationId xmlns:a16="http://schemas.microsoft.com/office/drawing/2014/main" id="{30CC761C-5311-2C1B-A741-DB78720DD2FB}"/>
              </a:ext>
            </a:extLst>
          </p:cNvPr>
          <p:cNvSpPr txBox="1"/>
          <p:nvPr/>
        </p:nvSpPr>
        <p:spPr>
          <a:xfrm>
            <a:off x="5346700" y="1130299"/>
            <a:ext cx="62484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从原始分析帧得到决策指标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9392268-7431-6CD4-B4F4-D5CA1B80BA88}"/>
              </a:ext>
            </a:extLst>
          </p:cNvPr>
          <p:cNvCxnSpPr/>
          <p:nvPr/>
        </p:nvCxnSpPr>
        <p:spPr>
          <a:xfrm>
            <a:off x="5067300" y="1536700"/>
            <a:ext cx="0" cy="410210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上区">
            <a:extLst>
              <a:ext uri="{FF2B5EF4-FFF2-40B4-BE49-F238E27FC236}">
                <a16:creationId xmlns:a16="http://schemas.microsoft.com/office/drawing/2014/main" id="{31426006-D627-43DF-4EB6-C67E66136300}"/>
              </a:ext>
            </a:extLst>
          </p:cNvPr>
          <p:cNvSpPr/>
          <p:nvPr/>
        </p:nvSpPr>
        <p:spPr>
          <a:xfrm>
            <a:off x="762000" y="1727200"/>
            <a:ext cx="4064001" cy="933451"/>
          </a:xfrm>
          <a:custGeom>
            <a:avLst/>
            <a:gdLst/>
            <a:ahLst/>
            <a:cxnLst/>
            <a:rect l="0" t="0" r="0" b="0"/>
            <a:pathLst>
              <a:path w="4064001" h="933451">
                <a:moveTo>
                  <a:pt x="0" y="0"/>
                </a:moveTo>
                <a:lnTo>
                  <a:pt x="4064000" y="0"/>
                </a:lnTo>
                <a:lnTo>
                  <a:pt x="2641600" y="933450"/>
                </a:lnTo>
                <a:lnTo>
                  <a:pt x="1422400" y="933450"/>
                </a:lnTo>
                <a:close/>
              </a:path>
            </a:pathLst>
          </a:custGeom>
          <a:solidFill>
            <a:srgbClr val="FBE4D7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区">
            <a:extLst>
              <a:ext uri="{FF2B5EF4-FFF2-40B4-BE49-F238E27FC236}">
                <a16:creationId xmlns:a16="http://schemas.microsoft.com/office/drawing/2014/main" id="{7F9303AA-2F74-184A-EB06-C84CDEC29CA9}"/>
              </a:ext>
            </a:extLst>
          </p:cNvPr>
          <p:cNvSpPr/>
          <p:nvPr/>
        </p:nvSpPr>
        <p:spPr>
          <a:xfrm>
            <a:off x="3403600" y="1727200"/>
            <a:ext cx="1422401" cy="2667001"/>
          </a:xfrm>
          <a:custGeom>
            <a:avLst/>
            <a:gdLst/>
            <a:ahLst/>
            <a:cxnLst/>
            <a:rect l="0" t="0" r="0" b="0"/>
            <a:pathLst>
              <a:path w="1422401" h="2667001">
                <a:moveTo>
                  <a:pt x="1422400" y="0"/>
                </a:moveTo>
                <a:lnTo>
                  <a:pt x="1422400" y="2667000"/>
                </a:lnTo>
                <a:lnTo>
                  <a:pt x="0" y="1733550"/>
                </a:lnTo>
                <a:lnTo>
                  <a:pt x="0" y="933450"/>
                </a:lnTo>
                <a:close/>
              </a:path>
            </a:pathLst>
          </a:custGeom>
          <a:solidFill>
            <a:srgbClr val="EEF1F3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区">
            <a:extLst>
              <a:ext uri="{FF2B5EF4-FFF2-40B4-BE49-F238E27FC236}">
                <a16:creationId xmlns:a16="http://schemas.microsoft.com/office/drawing/2014/main" id="{AD5D6A2C-B42B-73FB-581D-B6F87A62DDDD}"/>
              </a:ext>
            </a:extLst>
          </p:cNvPr>
          <p:cNvSpPr/>
          <p:nvPr/>
        </p:nvSpPr>
        <p:spPr>
          <a:xfrm>
            <a:off x="762000" y="3460750"/>
            <a:ext cx="4064001" cy="933451"/>
          </a:xfrm>
          <a:custGeom>
            <a:avLst/>
            <a:gdLst/>
            <a:ahLst/>
            <a:cxnLst/>
            <a:rect l="0" t="0" r="0" b="0"/>
            <a:pathLst>
              <a:path w="4064001" h="933451">
                <a:moveTo>
                  <a:pt x="4064000" y="933450"/>
                </a:moveTo>
                <a:lnTo>
                  <a:pt x="0" y="933450"/>
                </a:lnTo>
                <a:lnTo>
                  <a:pt x="1422400" y="0"/>
                </a:lnTo>
                <a:lnTo>
                  <a:pt x="2641600" y="0"/>
                </a:lnTo>
                <a:close/>
              </a:path>
            </a:pathLst>
          </a:custGeom>
          <a:solidFill>
            <a:srgbClr val="FAEDE4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区">
            <a:extLst>
              <a:ext uri="{FF2B5EF4-FFF2-40B4-BE49-F238E27FC236}">
                <a16:creationId xmlns:a16="http://schemas.microsoft.com/office/drawing/2014/main" id="{33D7B53C-B31D-BDCE-07D2-DA375DB933FA}"/>
              </a:ext>
            </a:extLst>
          </p:cNvPr>
          <p:cNvSpPr/>
          <p:nvPr/>
        </p:nvSpPr>
        <p:spPr>
          <a:xfrm>
            <a:off x="762000" y="1727200"/>
            <a:ext cx="1422401" cy="2667001"/>
          </a:xfrm>
          <a:custGeom>
            <a:avLst/>
            <a:gdLst/>
            <a:ahLst/>
            <a:cxnLst/>
            <a:rect l="0" t="0" r="0" b="0"/>
            <a:pathLst>
              <a:path w="1422401" h="2667001">
                <a:moveTo>
                  <a:pt x="0" y="2667000"/>
                </a:moveTo>
                <a:lnTo>
                  <a:pt x="0" y="0"/>
                </a:lnTo>
                <a:lnTo>
                  <a:pt x="1422400" y="933450"/>
                </a:lnTo>
                <a:lnTo>
                  <a:pt x="1422400" y="1733550"/>
                </a:lnTo>
                <a:close/>
              </a:path>
            </a:pathLst>
          </a:custGeom>
          <a:solidFill>
            <a:srgbClr val="E6ECEF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中心区">
            <a:extLst>
              <a:ext uri="{FF2B5EF4-FFF2-40B4-BE49-F238E27FC236}">
                <a16:creationId xmlns:a16="http://schemas.microsoft.com/office/drawing/2014/main" id="{257B0440-DB74-2C33-6CE2-3AA3F3A32C80}"/>
              </a:ext>
            </a:extLst>
          </p:cNvPr>
          <p:cNvSpPr/>
          <p:nvPr/>
        </p:nvSpPr>
        <p:spPr>
          <a:xfrm>
            <a:off x="2184400" y="2660650"/>
            <a:ext cx="1219201" cy="800101"/>
          </a:xfrm>
          <a:custGeom>
            <a:avLst/>
            <a:gdLst/>
            <a:ahLst/>
            <a:cxnLst/>
            <a:rect l="0" t="0" r="0" b="0"/>
            <a:pathLst>
              <a:path w="1219201" h="800101">
                <a:moveTo>
                  <a:pt x="0" y="0"/>
                </a:moveTo>
                <a:lnTo>
                  <a:pt x="1219200" y="0"/>
                </a:lnTo>
                <a:lnTo>
                  <a:pt x="1219200" y="800100"/>
                </a:lnTo>
                <a:lnTo>
                  <a:pt x="0" y="800100"/>
                </a:lnTo>
                <a:close/>
              </a:path>
            </a:pathLst>
          </a:custGeom>
          <a:solidFill>
            <a:srgbClr val="F15A0A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上区读数">
            <a:extLst>
              <a:ext uri="{FF2B5EF4-FFF2-40B4-BE49-F238E27FC236}">
                <a16:creationId xmlns:a16="http://schemas.microsoft.com/office/drawing/2014/main" id="{42BEC149-2FEA-C486-A48C-C0723D86C6D1}"/>
              </a:ext>
            </a:extLst>
          </p:cNvPr>
          <p:cNvSpPr txBox="1"/>
          <p:nvPr/>
        </p:nvSpPr>
        <p:spPr>
          <a:xfrm>
            <a:off x="2006600" y="1841499"/>
            <a:ext cx="1574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110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下区读数">
            <a:extLst>
              <a:ext uri="{FF2B5EF4-FFF2-40B4-BE49-F238E27FC236}">
                <a16:creationId xmlns:a16="http://schemas.microsoft.com/office/drawing/2014/main" id="{70184A6A-13B3-5719-F27A-291CD785C6D7}"/>
              </a:ext>
            </a:extLst>
          </p:cNvPr>
          <p:cNvSpPr txBox="1"/>
          <p:nvPr/>
        </p:nvSpPr>
        <p:spPr>
          <a:xfrm>
            <a:off x="2006600" y="3670299"/>
            <a:ext cx="1574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110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左区读数">
            <a:extLst>
              <a:ext uri="{FF2B5EF4-FFF2-40B4-BE49-F238E27FC236}">
                <a16:creationId xmlns:a16="http://schemas.microsoft.com/office/drawing/2014/main" id="{8B9E5E19-427D-4FBE-56E3-9DB761019170}"/>
              </a:ext>
            </a:extLst>
          </p:cNvPr>
          <p:cNvSpPr txBox="1"/>
          <p:nvPr/>
        </p:nvSpPr>
        <p:spPr>
          <a:xfrm>
            <a:off x="812800" y="2743199"/>
            <a:ext cx="13081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</a:p>
          <a:p>
            <a:pPr algn="ctr">
              <a:lnSpc>
                <a:spcPct val="105000"/>
              </a:lnSpc>
            </a:pPr>
            <a:r>
              <a:rPr lang="zh-CN" altLang="en-US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 </a:t>
            </a:r>
            <a:r>
              <a:rPr lang="en-US" altLang="zh-CN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1100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右区读数">
            <a:extLst>
              <a:ext uri="{FF2B5EF4-FFF2-40B4-BE49-F238E27FC236}">
                <a16:creationId xmlns:a16="http://schemas.microsoft.com/office/drawing/2014/main" id="{4F2CC31A-E9A2-5362-1993-CC46B20258A0}"/>
              </a:ext>
            </a:extLst>
          </p:cNvPr>
          <p:cNvSpPr txBox="1"/>
          <p:nvPr/>
        </p:nvSpPr>
        <p:spPr>
          <a:xfrm>
            <a:off x="3467100" y="2743199"/>
            <a:ext cx="13081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</a:p>
          <a:p>
            <a:pPr algn="ctr">
              <a:lnSpc>
                <a:spcPct val="105000"/>
              </a:lnSpc>
            </a:pPr>
            <a:r>
              <a:rPr lang="zh-CN" altLang="en-US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 </a:t>
            </a:r>
            <a:r>
              <a:rPr lang="en-US" altLang="zh-CN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sz="11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1100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中心读数">
            <a:extLst>
              <a:ext uri="{FF2B5EF4-FFF2-40B4-BE49-F238E27FC236}">
                <a16:creationId xmlns:a16="http://schemas.microsoft.com/office/drawing/2014/main" id="{C3B3378F-9097-D267-EF20-AFA429D1DA4D}"/>
              </a:ext>
            </a:extLst>
          </p:cNvPr>
          <p:cNvSpPr txBox="1"/>
          <p:nvPr/>
        </p:nvSpPr>
        <p:spPr>
          <a:xfrm>
            <a:off x="2209800" y="2755899"/>
            <a:ext cx="11684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 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9%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endParaRPr lang="zh-CN" altLang="en-US"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面积公式">
            <a:extLst>
              <a:ext uri="{FF2B5EF4-FFF2-40B4-BE49-F238E27FC236}">
                <a16:creationId xmlns:a16="http://schemas.microsoft.com/office/drawing/2014/main" id="{6D7BBA06-E42E-AB17-2EF4-6BB2D532A5A3}"/>
              </a:ext>
            </a:extLst>
          </p:cNvPr>
          <p:cNvSpPr txBox="1"/>
          <p:nvPr/>
        </p:nvSpPr>
        <p:spPr>
          <a:xfrm>
            <a:off x="762000" y="4533899"/>
            <a:ext cx="41275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中心：</a:t>
            </a: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0.3W × 0.3H = 9%WH</a:t>
            </a:r>
          </a:p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上区：</a:t>
            </a: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 + 0.3W) × 0.35H ÷ 2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= 22.75%WH</a:t>
            </a: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；其余三边同面积。</a:t>
            </a:r>
          </a:p>
        </p:txBody>
      </p:sp>
      <p:sp>
        <p:nvSpPr>
          <p:cNvPr id="18" name="方向注记">
            <a:extLst>
              <a:ext uri="{FF2B5EF4-FFF2-40B4-BE49-F238E27FC236}">
                <a16:creationId xmlns:a16="http://schemas.microsoft.com/office/drawing/2014/main" id="{E93B8EBB-1A70-48DC-671B-83D588687514}"/>
              </a:ext>
            </a:extLst>
          </p:cNvPr>
          <p:cNvSpPr txBox="1"/>
          <p:nvPr/>
        </p:nvSpPr>
        <p:spPr>
          <a:xfrm>
            <a:off x="762000" y="5384799"/>
            <a:ext cx="412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分区互不重叠；随传感器方向旋转标签。</a:t>
            </a:r>
          </a:p>
        </p:txBody>
      </p:sp>
      <p:sp>
        <p:nvSpPr>
          <p:cNvPr id="19" name="采样小标题">
            <a:extLst>
              <a:ext uri="{FF2B5EF4-FFF2-40B4-BE49-F238E27FC236}">
                <a16:creationId xmlns:a16="http://schemas.microsoft.com/office/drawing/2014/main" id="{52E64BF0-D9F7-6115-CD1D-148C74FF5F35}"/>
              </a:ext>
            </a:extLst>
          </p:cNvPr>
          <p:cNvSpPr txBox="1"/>
          <p:nvPr/>
        </p:nvSpPr>
        <p:spPr>
          <a:xfrm>
            <a:off x="5346700" y="1562099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每区先统计，再计算截尾均值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endParaRPr lang="zh-CN" altLang="en-US" sz="140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采样内容">
            <a:extLst>
              <a:ext uri="{FF2B5EF4-FFF2-40B4-BE49-F238E27FC236}">
                <a16:creationId xmlns:a16="http://schemas.microsoft.com/office/drawing/2014/main" id="{9FF6BA03-63D0-1DF4-B8BA-8E129BB0207F}"/>
              </a:ext>
            </a:extLst>
          </p:cNvPr>
          <p:cNvSpPr txBox="1"/>
          <p:nvPr/>
        </p:nvSpPr>
        <p:spPr>
          <a:xfrm>
            <a:off x="5346700" y="1866899"/>
            <a:ext cx="6223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采样间隔 ≥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ms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，网格最多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× 48 = 3072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点。</a:t>
            </a:r>
          </a:p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SDR YUV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平面；每区剔除最暗、最亮各</a:t>
            </a:r>
          </a:p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floor(5% ×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该区点数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个点，再求剩余点的平均值。</a:t>
            </a:r>
          </a:p>
        </p:txBody>
      </p:sp>
      <p:sp>
        <p:nvSpPr>
          <p:cNvPr id="21" name="综合小标题">
            <a:extLst>
              <a:ext uri="{FF2B5EF4-FFF2-40B4-BE49-F238E27FC236}">
                <a16:creationId xmlns:a16="http://schemas.microsoft.com/office/drawing/2014/main" id="{79830D98-5D92-461C-86E3-CEC24920220F}"/>
              </a:ext>
            </a:extLst>
          </p:cNvPr>
          <p:cNvSpPr txBox="1"/>
          <p:nvPr/>
        </p:nvSpPr>
        <p:spPr>
          <a:xfrm>
            <a:off x="5346700" y="2578099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综合亮度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：固定权重的几何平均</a:t>
            </a:r>
          </a:p>
        </p:txBody>
      </p:sp>
      <p:sp>
        <p:nvSpPr>
          <p:cNvPr id="22" name="综合公式">
            <a:extLst>
              <a:ext uri="{FF2B5EF4-FFF2-40B4-BE49-F238E27FC236}">
                <a16:creationId xmlns:a16="http://schemas.microsoft.com/office/drawing/2014/main" id="{E6C7CEDA-CCC1-D782-0DB4-2E112F921A71}"/>
              </a:ext>
            </a:extLst>
          </p:cNvPr>
          <p:cNvSpPr txBox="1"/>
          <p:nvPr/>
        </p:nvSpPr>
        <p:spPr>
          <a:xfrm>
            <a:off x="5346700" y="2895599"/>
            <a:ext cx="6223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 = exp[0.4 ln(max(M</a:t>
            </a:r>
            <a:r>
              <a:rPr lang="zh-CN" altLang="en-US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1))</a:t>
            </a:r>
          </a:p>
          <a:p>
            <a:pPr>
              <a:lnSpc>
                <a:spcPct val="105000"/>
              </a:lnSpc>
            </a:pP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+ 0.15 </a:t>
            </a:r>
            <a:r>
              <a:rPr lang="el-GR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r>
              <a:rPr lang="zh-CN" altLang="en-US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四边 </a:t>
            </a: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ln(max(Mi, 1))]</a:t>
            </a:r>
            <a:endParaRPr lang="zh-CN" altLang="en-US" sz="1400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综合解释">
            <a:extLst>
              <a:ext uri="{FF2B5EF4-FFF2-40B4-BE49-F238E27FC236}">
                <a16:creationId xmlns:a16="http://schemas.microsoft.com/office/drawing/2014/main" id="{82C434EB-590C-BB79-BA72-812B59C83B1C}"/>
              </a:ext>
            </a:extLst>
          </p:cNvPr>
          <p:cNvSpPr txBox="1"/>
          <p:nvPr/>
        </p:nvSpPr>
        <p:spPr>
          <a:xfrm>
            <a:off x="5346700" y="3479800"/>
            <a:ext cx="622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不再乘区域面积，减弱单个极亮天空区域的支配。</a:t>
            </a:r>
          </a:p>
        </p:txBody>
      </p:sp>
      <p:sp>
        <p:nvSpPr>
          <p:cNvPr id="24" name="百分位小标题">
            <a:extLst>
              <a:ext uri="{FF2B5EF4-FFF2-40B4-BE49-F238E27FC236}">
                <a16:creationId xmlns:a16="http://schemas.microsoft.com/office/drawing/2014/main" id="{C066B0B2-63F6-A643-8E90-CAF942731DCE}"/>
              </a:ext>
            </a:extLst>
          </p:cNvPr>
          <p:cNvSpPr txBox="1"/>
          <p:nvPr/>
        </p:nvSpPr>
        <p:spPr>
          <a:xfrm>
            <a:off x="5346700" y="3822699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/ P99</a:t>
            </a: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：从未截尾的采样直方图取值</a:t>
            </a:r>
          </a:p>
        </p:txBody>
      </p:sp>
      <p:sp>
        <p:nvSpPr>
          <p:cNvPr id="25" name="百分位解释">
            <a:extLst>
              <a:ext uri="{FF2B5EF4-FFF2-40B4-BE49-F238E27FC236}">
                <a16:creationId xmlns:a16="http://schemas.microsoft.com/office/drawing/2014/main" id="{360E8855-F225-4B7E-7243-2330E478A788}"/>
              </a:ext>
            </a:extLst>
          </p:cNvPr>
          <p:cNvSpPr txBox="1"/>
          <p:nvPr/>
        </p:nvSpPr>
        <p:spPr>
          <a:xfrm>
            <a:off x="5346700" y="4127499"/>
            <a:ext cx="62230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：中心第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百分位亮度，用于中心暗部保护。</a:t>
            </a:r>
          </a:p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P99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：全图采样的第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百分位亮度，用于回升余量判断。</a:t>
            </a:r>
          </a:p>
        </p:txBody>
      </p:sp>
      <p:sp>
        <p:nvSpPr>
          <p:cNvPr id="26" name="高亮小标题">
            <a:extLst>
              <a:ext uri="{FF2B5EF4-FFF2-40B4-BE49-F238E27FC236}">
                <a16:creationId xmlns:a16="http://schemas.microsoft.com/office/drawing/2014/main" id="{D72A1C45-E27C-8A10-FFF7-E7E541CECFCF}"/>
              </a:ext>
            </a:extLst>
          </p:cNvPr>
          <p:cNvSpPr txBox="1"/>
          <p:nvPr/>
        </p:nvSpPr>
        <p:spPr>
          <a:xfrm>
            <a:off x="5346700" y="4711699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：大范围高亮风险，不是真实饱和判定</a:t>
            </a:r>
          </a:p>
        </p:txBody>
      </p:sp>
      <p:sp>
        <p:nvSpPr>
          <p:cNvPr id="27" name="高亮解释">
            <a:extLst>
              <a:ext uri="{FF2B5EF4-FFF2-40B4-BE49-F238E27FC236}">
                <a16:creationId xmlns:a16="http://schemas.microsoft.com/office/drawing/2014/main" id="{4AE3DD0F-2F31-E6E3-C59B-32C0C637CBF4}"/>
              </a:ext>
            </a:extLst>
          </p:cNvPr>
          <p:cNvSpPr txBox="1"/>
          <p:nvPr/>
        </p:nvSpPr>
        <p:spPr>
          <a:xfrm>
            <a:off x="5346700" y="5016499"/>
            <a:ext cx="6223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每区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 = Y ≥ 235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的点数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该区总点数（不截尾）。</a:t>
            </a:r>
          </a:p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成立：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0.4q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+ 0.15Σ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四边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 ≥ 35%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或五区中至少三区各有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 ≥ 25%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E62927-094B-A57E-2E07-CE367AD520D9}"/>
              </a:ext>
            </a:extLst>
          </p:cNvPr>
          <p:cNvSpPr/>
          <p:nvPr/>
        </p:nvSpPr>
        <p:spPr>
          <a:xfrm>
            <a:off x="698500" y="5892800"/>
            <a:ext cx="10858500" cy="520700"/>
          </a:xfrm>
          <a:prstGeom prst="rect">
            <a:avLst/>
          </a:prstGeom>
          <a:solidFill>
            <a:srgbClr val="FF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统计边界">
            <a:extLst>
              <a:ext uri="{FF2B5EF4-FFF2-40B4-BE49-F238E27FC236}">
                <a16:creationId xmlns:a16="http://schemas.microsoft.com/office/drawing/2014/main" id="{400215D3-8CE8-C70F-4A38-5F2B518C89ED}"/>
              </a:ext>
            </a:extLst>
          </p:cNvPr>
          <p:cNvSpPr txBox="1"/>
          <p:nvPr/>
        </p:nvSpPr>
        <p:spPr>
          <a:xfrm>
            <a:off x="850900" y="5981699"/>
            <a:ext cx="105537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读数是 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 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的图像亮度编码值，不是 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lux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RAW 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饱和率或 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HLG 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物理亮度。</a:t>
            </a:r>
          </a:p>
          <a:p>
            <a:pPr>
              <a:lnSpc>
                <a:spcPct val="105000"/>
              </a:lnSpc>
            </a:pP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中心只按位置划定，不识别旗杆；面积比例为连续几何值，实际采样点数存在取整差异。</a:t>
            </a:r>
          </a:p>
        </p:txBody>
      </p:sp>
      <p:sp>
        <p:nvSpPr>
          <p:cNvPr id="30" name="页脚来源">
            <a:extLst>
              <a:ext uri="{FF2B5EF4-FFF2-40B4-BE49-F238E27FC236}">
                <a16:creationId xmlns:a16="http://schemas.microsoft.com/office/drawing/2014/main" id="{8BF8868F-3CAA-38B1-18C6-935A9E41EFBE}"/>
              </a:ext>
            </a:extLst>
          </p:cNvPr>
          <p:cNvSpPr txBox="1"/>
          <p:nvPr/>
        </p:nvSpPr>
        <p:spPr>
          <a:xfrm>
            <a:off x="698500" y="6553200"/>
            <a:ext cx="10858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86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代码依据：</a:t>
            </a:r>
            <a:r>
              <a:rPr lang="en-US" altLang="zh-CN" sz="86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RegionalMetering.kt / HighlightStatistics.kt  |  0.8.35 / fb348fb  |  2026-09-22  |  Codex Agent</a:t>
            </a:r>
            <a:endParaRPr lang="zh-CN" altLang="en-US" sz="860">
              <a:solidFill>
                <a:srgbClr val="626B7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53775" y="470759"/>
            <a:ext cx="499745" cy="356328"/>
          </a:xfrm>
        </p:spPr>
        <p:txBody>
          <a:bodyPr/>
          <a:lstStyle/>
          <a:p>
            <a:pPr algn="ctr" eaLnBrk="1" fontAlgn="base" hangingPunct="1"/>
            <a:r>
              <a:rPr lang="en-US" altLang="zh-CN" sz="13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lang="en-US" altLang="zh-CN" sz="13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1142999" y="471117"/>
            <a:ext cx="9715500" cy="378565"/>
          </a:xfrm>
        </p:spPr>
        <p:txBody>
          <a:bodyPr lIns="0" tIns="0"/>
          <a:lstStyle/>
          <a:p>
            <a:r>
              <a:rPr lang="zh-CN" altLang="en-US">
                <a:solidFill>
                  <a:srgbClr val="252A30"/>
                </a:solidFill>
                <a:latin typeface="微软雅黑" panose="020B0503020204020204" pitchFamily="34" charset="-122"/>
              </a:rPr>
              <a:t>四边测光逻辑：</a:t>
            </a:r>
            <a:r>
              <a:rPr lang="en-US" altLang="zh-CN">
                <a:solidFill>
                  <a:srgbClr val="252A30"/>
                </a:solidFill>
                <a:latin typeface="微软雅黑" panose="020B0503020204020204" pitchFamily="34" charset="-122"/>
              </a:rPr>
              <a:t>EV </a:t>
            </a:r>
            <a:r>
              <a:rPr lang="zh-CN" altLang="en-US">
                <a:solidFill>
                  <a:srgbClr val="252A30"/>
                </a:solidFill>
                <a:latin typeface="微软雅黑" panose="020B0503020204020204" pitchFamily="34" charset="-122"/>
              </a:rPr>
              <a:t>决策与保护机制</a:t>
            </a:r>
            <a:endParaRPr lang="ko-KR" altLang="en-US">
              <a:solidFill>
                <a:srgbClr val="252A3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决策标题">
            <a:extLst>
              <a:ext uri="{FF2B5EF4-FFF2-40B4-BE49-F238E27FC236}">
                <a16:creationId xmlns:a16="http://schemas.microsoft.com/office/drawing/2014/main" id="{C276A905-E8CC-5BCC-9D43-CAC8B5844DA0}"/>
              </a:ext>
            </a:extLst>
          </p:cNvPr>
          <p:cNvSpPr txBox="1"/>
          <p:nvPr/>
        </p:nvSpPr>
        <p:spPr>
          <a:xfrm>
            <a:off x="698500" y="1130299"/>
            <a:ext cx="6515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按优先级决策：首条命中即停止</a:t>
            </a:r>
          </a:p>
        </p:txBody>
      </p:sp>
      <p:sp>
        <p:nvSpPr>
          <p:cNvPr id="4" name="执行标题">
            <a:extLst>
              <a:ext uri="{FF2B5EF4-FFF2-40B4-BE49-F238E27FC236}">
                <a16:creationId xmlns:a16="http://schemas.microsoft.com/office/drawing/2014/main" id="{7E0587E1-07AA-3D74-E03F-D794D9FB9486}"/>
              </a:ext>
            </a:extLst>
          </p:cNvPr>
          <p:cNvSpPr txBox="1"/>
          <p:nvPr/>
        </p:nvSpPr>
        <p:spPr>
          <a:xfrm>
            <a:off x="7467600" y="1130299"/>
            <a:ext cx="40767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小步执行、等待反馈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8A5AAD0-27B7-40A9-0840-482919B7D48C}"/>
              </a:ext>
            </a:extLst>
          </p:cNvPr>
          <p:cNvCxnSpPr/>
          <p:nvPr/>
        </p:nvCxnSpPr>
        <p:spPr>
          <a:xfrm>
            <a:off x="7200900" y="1536700"/>
            <a:ext cx="0" cy="421640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误差定义">
            <a:extLst>
              <a:ext uri="{FF2B5EF4-FFF2-40B4-BE49-F238E27FC236}">
                <a16:creationId xmlns:a16="http://schemas.microsoft.com/office/drawing/2014/main" id="{9AADE6FE-6BEB-F31B-2E59-02E09C54B325}"/>
              </a:ext>
            </a:extLst>
          </p:cNvPr>
          <p:cNvSpPr txBox="1"/>
          <p:nvPr/>
        </p:nvSpPr>
        <p:spPr>
          <a:xfrm>
            <a:off x="698500" y="1536699"/>
            <a:ext cx="63627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= log₂(112 / G)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；死区 </a:t>
            </a: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= max(0.35, 0.6Δ)</a:t>
            </a:r>
          </a:p>
          <a:p>
            <a:pPr>
              <a:lnSpc>
                <a:spcPct val="105000"/>
              </a:lnSpc>
            </a:pP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112 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是经验目标；</a:t>
            </a: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是编码亮度误差，不是物理 </a:t>
            </a: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5E0C6F-48EE-72D5-E267-EF49910A346A}"/>
              </a:ext>
            </a:extLst>
          </p:cNvPr>
          <p:cNvSpPr/>
          <p:nvPr/>
        </p:nvSpPr>
        <p:spPr>
          <a:xfrm>
            <a:off x="698500" y="2108200"/>
            <a:ext cx="6286500" cy="698500"/>
          </a:xfrm>
          <a:prstGeom prst="rect">
            <a:avLst/>
          </a:prstGeom>
          <a:solidFill>
            <a:srgbClr val="FF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保护状态">
            <a:extLst>
              <a:ext uri="{FF2B5EF4-FFF2-40B4-BE49-F238E27FC236}">
                <a16:creationId xmlns:a16="http://schemas.microsoft.com/office/drawing/2014/main" id="{DE74A9ED-7E44-5213-1E55-314EB77F2933}"/>
              </a:ext>
            </a:extLst>
          </p:cNvPr>
          <p:cNvSpPr txBox="1"/>
          <p:nvPr/>
        </p:nvSpPr>
        <p:spPr>
          <a:xfrm>
            <a:off x="825500" y="2184399"/>
            <a:ext cx="6032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先更新中心保护：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&lt; 64 →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≥ 96 →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关。</a:t>
            </a:r>
          </a:p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保留原状态（初始为关）。</a:t>
            </a:r>
          </a:p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 −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用户基线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=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每次调整的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序号1">
            <a:extLst>
              <a:ext uri="{FF2B5EF4-FFF2-40B4-BE49-F238E27FC236}">
                <a16:creationId xmlns:a16="http://schemas.microsoft.com/office/drawing/2014/main" id="{55809383-7BD3-7829-371A-605CBD4D3ADF}"/>
              </a:ext>
            </a:extLst>
          </p:cNvPr>
          <p:cNvSpPr txBox="1"/>
          <p:nvPr/>
        </p:nvSpPr>
        <p:spPr>
          <a:xfrm>
            <a:off x="711200" y="29082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条件1">
            <a:extLst>
              <a:ext uri="{FF2B5EF4-FFF2-40B4-BE49-F238E27FC236}">
                <a16:creationId xmlns:a16="http://schemas.microsoft.com/office/drawing/2014/main" id="{01F24EC4-8605-91B6-B4D3-7AEEEC3C9A16}"/>
              </a:ext>
            </a:extLst>
          </p:cNvPr>
          <p:cNvSpPr txBox="1"/>
          <p:nvPr/>
        </p:nvSpPr>
        <p:spPr>
          <a:xfrm>
            <a:off x="1117600" y="29082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&lt; 40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 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&lt; 0</a:t>
            </a:r>
            <a:endParaRPr lang="zh-CN" altLang="en-US" sz="125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动作1">
            <a:extLst>
              <a:ext uri="{FF2B5EF4-FFF2-40B4-BE49-F238E27FC236}">
                <a16:creationId xmlns:a16="http://schemas.microsoft.com/office/drawing/2014/main" id="{A6ABC193-D5A6-0CCA-6713-E519D124FD1A}"/>
              </a:ext>
            </a:extLst>
          </p:cNvPr>
          <p:cNvSpPr txBox="1"/>
          <p:nvPr/>
        </p:nvSpPr>
        <p:spPr>
          <a:xfrm>
            <a:off x="1117600" y="31623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 </a:t>
            </a:r>
            <a:r>
              <a:rPr lang="el-GR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l-GR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优先恢复暗部。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943E640-723F-2A99-6778-BFC782696F39}"/>
              </a:ext>
            </a:extLst>
          </p:cNvPr>
          <p:cNvCxnSpPr/>
          <p:nvPr/>
        </p:nvCxnSpPr>
        <p:spPr>
          <a:xfrm>
            <a:off x="1117600" y="34417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序号2">
            <a:extLst>
              <a:ext uri="{FF2B5EF4-FFF2-40B4-BE49-F238E27FC236}">
                <a16:creationId xmlns:a16="http://schemas.microsoft.com/office/drawing/2014/main" id="{B69558FF-FDD4-DD1B-FFA1-797E6D85C054}"/>
              </a:ext>
            </a:extLst>
          </p:cNvPr>
          <p:cNvSpPr txBox="1"/>
          <p:nvPr/>
        </p:nvSpPr>
        <p:spPr>
          <a:xfrm>
            <a:off x="711200" y="34797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条件2">
            <a:extLst>
              <a:ext uri="{FF2B5EF4-FFF2-40B4-BE49-F238E27FC236}">
                <a16:creationId xmlns:a16="http://schemas.microsoft.com/office/drawing/2014/main" id="{8FDC9EB3-91E0-9DF1-3D30-5117F5223E1A}"/>
              </a:ext>
            </a:extLst>
          </p:cNvPr>
          <p:cNvSpPr txBox="1"/>
          <p:nvPr/>
        </p:nvSpPr>
        <p:spPr>
          <a:xfrm>
            <a:off x="1117600" y="34797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&gt; d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，且（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成立或回升余量不足）</a:t>
            </a:r>
          </a:p>
        </p:txBody>
      </p:sp>
      <p:sp>
        <p:nvSpPr>
          <p:cNvPr id="16" name="动作2">
            <a:extLst>
              <a:ext uri="{FF2B5EF4-FFF2-40B4-BE49-F238E27FC236}">
                <a16:creationId xmlns:a16="http://schemas.microsoft.com/office/drawing/2014/main" id="{177D0504-DA42-EB22-07D3-2896EC9AD97D}"/>
              </a:ext>
            </a:extLst>
          </p:cNvPr>
          <p:cNvSpPr txBox="1"/>
          <p:nvPr/>
        </p:nvSpPr>
        <p:spPr>
          <a:xfrm>
            <a:off x="1117600" y="37338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保持：反差超限 </a:t>
            </a:r>
            <a:r>
              <a:rPr lang="en-US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保留高光余量。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ED3E87F-D6DD-16C0-7030-77F90A93C44E}"/>
              </a:ext>
            </a:extLst>
          </p:cNvPr>
          <p:cNvCxnSpPr/>
          <p:nvPr/>
        </p:nvCxnSpPr>
        <p:spPr>
          <a:xfrm>
            <a:off x="1117600" y="40132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序号3">
            <a:extLst>
              <a:ext uri="{FF2B5EF4-FFF2-40B4-BE49-F238E27FC236}">
                <a16:creationId xmlns:a16="http://schemas.microsoft.com/office/drawing/2014/main" id="{C402B575-B15C-3C19-5871-CA8A227D1656}"/>
              </a:ext>
            </a:extLst>
          </p:cNvPr>
          <p:cNvSpPr txBox="1"/>
          <p:nvPr/>
        </p:nvSpPr>
        <p:spPr>
          <a:xfrm>
            <a:off x="711200" y="40512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条件3">
            <a:extLst>
              <a:ext uri="{FF2B5EF4-FFF2-40B4-BE49-F238E27FC236}">
                <a16:creationId xmlns:a16="http://schemas.microsoft.com/office/drawing/2014/main" id="{4F3FE63F-DDE1-403A-F845-3788D8CFD589}"/>
              </a:ext>
            </a:extLst>
          </p:cNvPr>
          <p:cNvSpPr txBox="1"/>
          <p:nvPr/>
        </p:nvSpPr>
        <p:spPr>
          <a:xfrm>
            <a:off x="1117600" y="40512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&gt; d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，且未达提亮上限</a:t>
            </a:r>
          </a:p>
        </p:txBody>
      </p:sp>
      <p:sp>
        <p:nvSpPr>
          <p:cNvPr id="20" name="动作3">
            <a:extLst>
              <a:ext uri="{FF2B5EF4-FFF2-40B4-BE49-F238E27FC236}">
                <a16:creationId xmlns:a16="http://schemas.microsoft.com/office/drawing/2014/main" id="{3E022293-70B8-0E2B-1895-5D24B05755F0}"/>
              </a:ext>
            </a:extLst>
          </p:cNvPr>
          <p:cNvSpPr txBox="1"/>
          <p:nvPr/>
        </p:nvSpPr>
        <p:spPr>
          <a:xfrm>
            <a:off x="1117600" y="43053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 </a:t>
            </a:r>
            <a:r>
              <a:rPr lang="en-US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：分区提亮。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17F70AE-D373-1362-BE21-55441E29C34E}"/>
              </a:ext>
            </a:extLst>
          </p:cNvPr>
          <p:cNvCxnSpPr/>
          <p:nvPr/>
        </p:nvCxnSpPr>
        <p:spPr>
          <a:xfrm>
            <a:off x="1117600" y="45847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序号4">
            <a:extLst>
              <a:ext uri="{FF2B5EF4-FFF2-40B4-BE49-F238E27FC236}">
                <a16:creationId xmlns:a16="http://schemas.microsoft.com/office/drawing/2014/main" id="{7A14E0F4-71C8-21E1-8EE7-1AF4112EAF8B}"/>
              </a:ext>
            </a:extLst>
          </p:cNvPr>
          <p:cNvSpPr txBox="1"/>
          <p:nvPr/>
        </p:nvSpPr>
        <p:spPr>
          <a:xfrm>
            <a:off x="711200" y="46227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条件4">
            <a:extLst>
              <a:ext uri="{FF2B5EF4-FFF2-40B4-BE49-F238E27FC236}">
                <a16:creationId xmlns:a16="http://schemas.microsoft.com/office/drawing/2014/main" id="{AAE3C126-C4F3-9B2F-095B-E4D3A5BAA6EC}"/>
              </a:ext>
            </a:extLst>
          </p:cNvPr>
          <p:cNvSpPr txBox="1"/>
          <p:nvPr/>
        </p:nvSpPr>
        <p:spPr>
          <a:xfrm>
            <a:off x="1117600" y="46227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&lt; −d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成立），且中心保护关闭</a:t>
            </a:r>
          </a:p>
        </p:txBody>
      </p:sp>
      <p:sp>
        <p:nvSpPr>
          <p:cNvPr id="24" name="动作4">
            <a:extLst>
              <a:ext uri="{FF2B5EF4-FFF2-40B4-BE49-F238E27FC236}">
                <a16:creationId xmlns:a16="http://schemas.microsoft.com/office/drawing/2014/main" id="{70D6CD0C-584D-7CD5-9D12-8E418E9C14B2}"/>
              </a:ext>
            </a:extLst>
          </p:cNvPr>
          <p:cNvSpPr txBox="1"/>
          <p:nvPr/>
        </p:nvSpPr>
        <p:spPr>
          <a:xfrm>
            <a:off x="1117600" y="48768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未达降曝下限时降低 </a:t>
            </a:r>
            <a:r>
              <a:rPr lang="en-US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3C4F452-BD27-62BB-E024-7764AF1DEB56}"/>
              </a:ext>
            </a:extLst>
          </p:cNvPr>
          <p:cNvCxnSpPr/>
          <p:nvPr/>
        </p:nvCxnSpPr>
        <p:spPr>
          <a:xfrm>
            <a:off x="1117600" y="51562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序号5">
            <a:extLst>
              <a:ext uri="{FF2B5EF4-FFF2-40B4-BE49-F238E27FC236}">
                <a16:creationId xmlns:a16="http://schemas.microsoft.com/office/drawing/2014/main" id="{5288FBA4-0CC3-9422-2438-3404C183B97D}"/>
              </a:ext>
            </a:extLst>
          </p:cNvPr>
          <p:cNvSpPr txBox="1"/>
          <p:nvPr/>
        </p:nvSpPr>
        <p:spPr>
          <a:xfrm>
            <a:off x="711200" y="51942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条件5">
            <a:extLst>
              <a:ext uri="{FF2B5EF4-FFF2-40B4-BE49-F238E27FC236}">
                <a16:creationId xmlns:a16="http://schemas.microsoft.com/office/drawing/2014/main" id="{84CA77DA-0D4B-A3C3-BC1C-8620184FC056}"/>
              </a:ext>
            </a:extLst>
          </p:cNvPr>
          <p:cNvSpPr txBox="1"/>
          <p:nvPr/>
        </p:nvSpPr>
        <p:spPr>
          <a:xfrm>
            <a:off x="1117600" y="51942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其他情况</a:t>
            </a:r>
          </a:p>
        </p:txBody>
      </p:sp>
      <p:sp>
        <p:nvSpPr>
          <p:cNvPr id="28" name="动作5">
            <a:extLst>
              <a:ext uri="{FF2B5EF4-FFF2-40B4-BE49-F238E27FC236}">
                <a16:creationId xmlns:a16="http://schemas.microsoft.com/office/drawing/2014/main" id="{5BC9229E-E3E0-8848-5EAB-AB7DD1FEA20C}"/>
              </a:ext>
            </a:extLst>
          </p:cNvPr>
          <p:cNvSpPr txBox="1"/>
          <p:nvPr/>
        </p:nvSpPr>
        <p:spPr>
          <a:xfrm>
            <a:off x="1117600" y="54483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保持：死区、保护或边界限制。</a:t>
            </a:r>
          </a:p>
        </p:txBody>
      </p:sp>
      <p:sp>
        <p:nvSpPr>
          <p:cNvPr id="29" name="步幅标题">
            <a:extLst>
              <a:ext uri="{FF2B5EF4-FFF2-40B4-BE49-F238E27FC236}">
                <a16:creationId xmlns:a16="http://schemas.microsoft.com/office/drawing/2014/main" id="{4C024524-52B6-EC1F-72F8-905A4C178583}"/>
              </a:ext>
            </a:extLst>
          </p:cNvPr>
          <p:cNvSpPr txBox="1"/>
          <p:nvPr/>
        </p:nvSpPr>
        <p:spPr>
          <a:xfrm>
            <a:off x="7467600" y="15494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步幅与累计范围</a:t>
            </a:r>
          </a:p>
        </p:txBody>
      </p:sp>
      <p:sp>
        <p:nvSpPr>
          <p:cNvPr id="30" name="步幅内容">
            <a:extLst>
              <a:ext uri="{FF2B5EF4-FFF2-40B4-BE49-F238E27FC236}">
                <a16:creationId xmlns:a16="http://schemas.microsoft.com/office/drawing/2014/main" id="{C834ED24-7F1E-2AF6-99BA-C4BCF7661F60}"/>
              </a:ext>
            </a:extLst>
          </p:cNvPr>
          <p:cNvSpPr txBox="1"/>
          <p:nvPr/>
        </p:nvSpPr>
        <p:spPr>
          <a:xfrm>
            <a:off x="7467600" y="1866899"/>
            <a:ext cx="40767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目标约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1/3 EV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，按硬件步进向上取整：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步进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1/3 → Δ=1/3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 → 0.4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 → 0.5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相对用户基线：−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 EV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内，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按硬件步进向内取整，再受相机范围限制。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到边界截断，最后一次可能小于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1" name="时序标题">
            <a:extLst>
              <a:ext uri="{FF2B5EF4-FFF2-40B4-BE49-F238E27FC236}">
                <a16:creationId xmlns:a16="http://schemas.microsoft.com/office/drawing/2014/main" id="{65E6BE6B-B6B8-206C-2410-0E08909F4D26}"/>
              </a:ext>
            </a:extLst>
          </p:cNvPr>
          <p:cNvSpPr txBox="1"/>
          <p:nvPr/>
        </p:nvSpPr>
        <p:spPr>
          <a:xfrm>
            <a:off x="7467600" y="29591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不是每帧都调整</a:t>
            </a:r>
          </a:p>
        </p:txBody>
      </p:sp>
      <p:sp>
        <p:nvSpPr>
          <p:cNvPr id="32" name="时序内容">
            <a:extLst>
              <a:ext uri="{FF2B5EF4-FFF2-40B4-BE49-F238E27FC236}">
                <a16:creationId xmlns:a16="http://schemas.microsoft.com/office/drawing/2014/main" id="{32771840-36FB-2BB0-C848-DF0014CE07E3}"/>
              </a:ext>
            </a:extLst>
          </p:cNvPr>
          <p:cNvSpPr txBox="1"/>
          <p:nvPr/>
        </p:nvSpPr>
        <p:spPr>
          <a:xfrm>
            <a:off x="7467600" y="3276599"/>
            <a:ext cx="40767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条新统计要求同方向才调一次。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调后等待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s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，再重新累计；反向或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保持会重计，重复样本不累计。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注意：这里是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条，不是自动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条。</a:t>
            </a:r>
          </a:p>
        </p:txBody>
      </p:sp>
      <p:sp>
        <p:nvSpPr>
          <p:cNvPr id="33" name="回升标题">
            <a:extLst>
              <a:ext uri="{FF2B5EF4-FFF2-40B4-BE49-F238E27FC236}">
                <a16:creationId xmlns:a16="http://schemas.microsoft.com/office/drawing/2014/main" id="{C7E664AA-5545-8B08-86C8-E94DAB89E45B}"/>
              </a:ext>
            </a:extLst>
          </p:cNvPr>
          <p:cNvSpPr txBox="1"/>
          <p:nvPr/>
        </p:nvSpPr>
        <p:spPr>
          <a:xfrm>
            <a:off x="7467600" y="41656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负补偿回升的额外门槛</a:t>
            </a:r>
          </a:p>
        </p:txBody>
      </p:sp>
      <p:sp>
        <p:nvSpPr>
          <p:cNvPr id="34" name="回升内容">
            <a:extLst>
              <a:ext uri="{FF2B5EF4-FFF2-40B4-BE49-F238E27FC236}">
                <a16:creationId xmlns:a16="http://schemas.microsoft.com/office/drawing/2014/main" id="{E129D2E8-9B30-10FF-5CA9-0E6F5E42FB00}"/>
              </a:ext>
            </a:extLst>
          </p:cNvPr>
          <p:cNvSpPr txBox="1"/>
          <p:nvPr/>
        </p:nvSpPr>
        <p:spPr>
          <a:xfrm>
            <a:off x="7467600" y="4470399"/>
            <a:ext cx="40767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余量不足：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&lt; 0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P99 ≥ T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= floor(16 + 219 / 2^</a:t>
            </a:r>
            <a:r>
              <a:rPr lang="el-GR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− 8)</a:t>
            </a:r>
          </a:p>
          <a:p>
            <a:pPr>
              <a:lnSpc>
                <a:spcPct val="105000"/>
              </a:lnSpc>
            </a:pPr>
            <a:r>
              <a:rPr lang="el-GR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Δ=1/3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T=181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；第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条暗部恢复优先。</a:t>
            </a:r>
          </a:p>
        </p:txBody>
      </p:sp>
      <p:sp>
        <p:nvSpPr>
          <p:cNvPr id="35" name="接口标题">
            <a:extLst>
              <a:ext uri="{FF2B5EF4-FFF2-40B4-BE49-F238E27FC236}">
                <a16:creationId xmlns:a16="http://schemas.microsoft.com/office/drawing/2014/main" id="{A2303497-DA1F-EBE1-6089-8942FD4F74FE}"/>
              </a:ext>
            </a:extLst>
          </p:cNvPr>
          <p:cNvSpPr txBox="1"/>
          <p:nvPr/>
        </p:nvSpPr>
        <p:spPr>
          <a:xfrm>
            <a:off x="7467600" y="52070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只请求整幅 </a:t>
            </a:r>
            <a:r>
              <a:rPr lang="en-US" altLang="zh-CN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，不分别设置 </a:t>
            </a:r>
            <a:r>
              <a:rPr lang="en-US" altLang="zh-CN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 / </a:t>
            </a:r>
            <a:r>
              <a:rPr lang="zh-CN" altLang="en-US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快门</a:t>
            </a:r>
          </a:p>
        </p:txBody>
      </p:sp>
      <p:sp>
        <p:nvSpPr>
          <p:cNvPr id="36" name="接口内容">
            <a:extLst>
              <a:ext uri="{FF2B5EF4-FFF2-40B4-BE49-F238E27FC236}">
                <a16:creationId xmlns:a16="http://schemas.microsoft.com/office/drawing/2014/main" id="{318AAB4D-14D0-9E5D-5F49-93FE6F48CFAF}"/>
              </a:ext>
            </a:extLst>
          </p:cNvPr>
          <p:cNvSpPr txBox="1"/>
          <p:nvPr/>
        </p:nvSpPr>
        <p:spPr>
          <a:xfrm>
            <a:off x="7467600" y="5511800"/>
            <a:ext cx="40767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 </a:t>
            </a:r>
            <a:r>
              <a:rPr lang="en-US" altLang="zh-CN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 </a:t>
            </a: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决定实际 </a:t>
            </a:r>
            <a:r>
              <a:rPr lang="en-US" altLang="zh-CN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 / </a:t>
            </a: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快门；不是分区独立曝光。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84892CC-26B4-493D-541B-2294022290DB}"/>
              </a:ext>
            </a:extLst>
          </p:cNvPr>
          <p:cNvSpPr/>
          <p:nvPr/>
        </p:nvSpPr>
        <p:spPr>
          <a:xfrm>
            <a:off x="698500" y="5918200"/>
            <a:ext cx="10858500" cy="520700"/>
          </a:xfrm>
          <a:prstGeom prst="rect">
            <a:avLst/>
          </a:prstGeom>
          <a:solidFill>
            <a:srgbClr val="FF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运行边界">
            <a:extLst>
              <a:ext uri="{FF2B5EF4-FFF2-40B4-BE49-F238E27FC236}">
                <a16:creationId xmlns:a16="http://schemas.microsoft.com/office/drawing/2014/main" id="{C955B6C8-9FFA-75BE-0C87-92880F0E1930}"/>
              </a:ext>
            </a:extLst>
          </p:cNvPr>
          <p:cNvSpPr txBox="1"/>
          <p:nvPr/>
        </p:nvSpPr>
        <p:spPr>
          <a:xfrm>
            <a:off x="850900" y="5994399"/>
            <a:ext cx="105537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仅在「逆光平衡」有效时运行；点击测光、手动快门、校准、参数面板、后台及测量等流程会暂停。</a:t>
            </a:r>
          </a:p>
          <a:p>
            <a:pPr>
              <a:lnSpc>
                <a:spcPct val="105000"/>
              </a:lnSpc>
            </a:pPr>
            <a:r>
              <a:rPr lang="zh-CN" altLang="en-US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统计无效或超过 </a:t>
            </a:r>
            <a:r>
              <a:rPr lang="en-US" altLang="zh-CN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s </a:t>
            </a:r>
            <a:r>
              <a:rPr lang="zh-CN" altLang="en-US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未更新时撤销自动补偿；显示端局部映射是另一条链路，不能恢复已丢失细节。</a:t>
            </a:r>
          </a:p>
        </p:txBody>
      </p:sp>
      <p:sp>
        <p:nvSpPr>
          <p:cNvPr id="39" name="页脚来源">
            <a:extLst>
              <a:ext uri="{FF2B5EF4-FFF2-40B4-BE49-F238E27FC236}">
                <a16:creationId xmlns:a16="http://schemas.microsoft.com/office/drawing/2014/main" id="{E8ADDCD2-DBB0-96FC-0D56-FC00243D97BD}"/>
              </a:ext>
            </a:extLst>
          </p:cNvPr>
          <p:cNvSpPr txBox="1"/>
          <p:nvPr/>
        </p:nvSpPr>
        <p:spPr>
          <a:xfrm>
            <a:off x="698500" y="6553200"/>
            <a:ext cx="10858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86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代码依据：</a:t>
            </a:r>
            <a:r>
              <a:rPr lang="en-US" altLang="zh-CN" sz="86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HighlightExposurePolicy.kt / CameraScreen.kt  |  0.8.35 / fb348fb  |  2026-09-22  |  Codex Agent</a:t>
            </a:r>
            <a:endParaRPr lang="zh-CN" altLang="en-US" sz="860">
              <a:solidFill>
                <a:srgbClr val="626B7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567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Microsoft Office PowerPoint</Application>
  <PresentationFormat>宽屏</PresentationFormat>
  <Paragraphs>89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맑은 고딕</vt:lpstr>
      <vt:lpstr>等线</vt:lpstr>
      <vt:lpstr>微软雅黑</vt:lpstr>
      <vt:lpstr>Arial</vt:lpstr>
      <vt:lpstr>Times New Roman</vt:lpstr>
      <vt:lpstr>Wingdings</vt:lpstr>
      <vt:lpstr>Office 테마</vt:lpstr>
      <vt:lpstr>四边测光逻辑：五区划分与亮度统计</vt:lpstr>
      <vt:lpstr>四边测光逻辑：EV 决策与保护机制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SUKGYUN KANG</dc:creator>
  <cp:lastModifiedBy>HS</cp:lastModifiedBy>
  <cp:revision>11</cp:revision>
  <dcterms:created xsi:type="dcterms:W3CDTF">2024-12-17T03:29:00Z</dcterms:created>
  <dcterms:modified xsi:type="dcterms:W3CDTF">2026-09-22T10:36:09Z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909669405B3A4EE99F67D477EEEEBC17_12</vt:lpwstr>
  </property>
  <property fmtid="{D5CDD505-2E9C-101B-9397-08002B2CF9AE}" pid="3" name="KSOProductBuildVer">
    <vt:lpwstr>2052-12.1.0.28505</vt:lpwstr>
  </property>
</Properties>
</file>