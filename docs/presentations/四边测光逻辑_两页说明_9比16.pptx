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668" r:id="rId2"/>
    <p:sldId id="669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60" userDrawn="1">
          <p15:clr>
            <a:srgbClr val="A4A3A4"/>
          </p15:clr>
        </p15:guide>
        <p15:guide id="2" pos="536" userDrawn="1">
          <p15:clr>
            <a:srgbClr val="A4A3A4"/>
          </p15:clr>
        </p15:guide>
        <p15:guide id="3" pos="3860" userDrawn="1">
          <p15:clr>
            <a:srgbClr val="A4A3A4"/>
          </p15:clr>
        </p15:guide>
        <p15:guide id="4" pos="7129" userDrawn="1">
          <p15:clr>
            <a:srgbClr val="A4A3A4"/>
          </p15:clr>
        </p15:guide>
        <p15:guide id="5" orient="horz" pos="2280" userDrawn="1">
          <p15:clr>
            <a:srgbClr val="A4A3A4"/>
          </p15:clr>
        </p15:guide>
        <p15:guide id="6" orient="horz" pos="35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4660"/>
  </p:normalViewPr>
  <p:slideViewPr>
    <p:cSldViewPr snapToGrid="0" showGuides="1">
      <p:cViewPr varScale="1">
        <p:scale>
          <a:sx n="95" d="100"/>
          <a:sy n="95" d="100"/>
        </p:scale>
        <p:origin x="206" y="58"/>
      </p:cViewPr>
      <p:guideLst>
        <p:guide orient="horz" pos="760"/>
        <p:guide pos="536"/>
        <p:guide pos="3860"/>
        <p:guide pos="7129"/>
        <p:guide orient="horz" pos="2280"/>
        <p:guide orient="horz" pos="35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B5F0C2-B0C2-41F3-80BC-56508D2B3750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C87EE7-3CBF-4078-8869-0D8B5C5DC20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第一页讲解与代码核对</a:t>
            </a:r>
            <a:r>
              <a:rPr lang="en-US" altLang="zh-CN"/>
              <a:t>】
</a:t>
            </a:r>
            <a:r>
              <a:rPr lang="zh-CN" altLang="en-US"/>
              <a:t>范围：当前逆光平衡 </a:t>
            </a:r>
            <a:r>
              <a:rPr lang="en-US" altLang="zh-CN"/>
              <a:t>BACKLIGHT_BALANCE </a:t>
            </a:r>
            <a:r>
              <a:rPr lang="zh-CN" altLang="en-US"/>
              <a:t>的五区采集统计，非 </a:t>
            </a:r>
            <a:r>
              <a:rPr lang="en-US" altLang="zh-CN"/>
              <a:t>Camera2 </a:t>
            </a:r>
            <a:r>
              <a:rPr lang="zh-CN" altLang="en-US"/>
              <a:t>中心 </a:t>
            </a:r>
            <a:r>
              <a:rPr lang="en-US" altLang="zh-CN"/>
              <a:t>AE </a:t>
            </a:r>
            <a:r>
              <a:rPr lang="zh-CN" altLang="en-US"/>
              <a:t>区域开关。按提交 </a:t>
            </a:r>
            <a:r>
              <a:rPr lang="en-US" altLang="zh-CN"/>
              <a:t>fb348fb </a:t>
            </a:r>
            <a:r>
              <a:rPr lang="zh-CN" altLang="en-US"/>
              <a:t>核对。
</a:t>
            </a:r>
            <a:r>
              <a:rPr lang="en-US" altLang="zh-CN"/>
              <a:t>1. </a:t>
            </a:r>
            <a:r>
              <a:rPr lang="zh-CN" altLang="en-US"/>
              <a:t>归一化坐标 </a:t>
            </a:r>
            <a:r>
              <a:rPr lang="en-US" altLang="zh-CN"/>
              <a:t>u=(x+0.5)/W,v=(y+0.5)/H</a:t>
            </a:r>
            <a:r>
              <a:rPr lang="zh-CN" altLang="en-US"/>
              <a:t>。</a:t>
            </a:r>
            <a:r>
              <a:rPr lang="en-US" altLang="zh-CN"/>
              <a:t>dx=u-0.5,dy=v-0.5</a:t>
            </a:r>
            <a:r>
              <a:rPr lang="zh-CN" altLang="en-US"/>
              <a:t>。
</a:t>
            </a:r>
            <a:r>
              <a:rPr lang="en-US" altLang="zh-CN"/>
              <a:t>|dx|&lt;=0.15 </a:t>
            </a:r>
            <a:r>
              <a:rPr lang="zh-CN" altLang="en-US"/>
              <a:t>且 </a:t>
            </a:r>
            <a:r>
              <a:rPr lang="en-US" altLang="zh-CN"/>
              <a:t>|dy|&lt;=0.15 </a:t>
            </a:r>
            <a:r>
              <a:rPr lang="zh-CN" altLang="en-US"/>
              <a:t>归中心；否则 </a:t>
            </a:r>
            <a:r>
              <a:rPr lang="en-US" altLang="zh-CN"/>
              <a:t>|dx|&gt;|dy| </a:t>
            </a:r>
            <a:r>
              <a:rPr lang="zh-CN" altLang="en-US"/>
              <a:t>按 </a:t>
            </a:r>
            <a:r>
              <a:rPr lang="en-US" altLang="zh-CN"/>
              <a:t>dx </a:t>
            </a:r>
            <a:r>
              <a:rPr lang="zh-CN" altLang="en-US"/>
              <a:t>的符号归左</a:t>
            </a:r>
            <a:r>
              <a:rPr lang="en-US" altLang="zh-CN"/>
              <a:t>/</a:t>
            </a:r>
            <a:r>
              <a:rPr lang="zh-CN" altLang="en-US"/>
              <a:t>右，否则按 </a:t>
            </a:r>
            <a:r>
              <a:rPr lang="en-US" altLang="zh-CN"/>
              <a:t>dy </a:t>
            </a:r>
            <a:r>
              <a:rPr lang="zh-CN" altLang="en-US"/>
              <a:t>归上</a:t>
            </a:r>
            <a:r>
              <a:rPr lang="en-US" altLang="zh-CN"/>
              <a:t>/</a:t>
            </a:r>
            <a:r>
              <a:rPr lang="zh-CN" altLang="en-US"/>
              <a:t>下。相等的对角边界归上</a:t>
            </a:r>
            <a:r>
              <a:rPr lang="en-US" altLang="zh-CN"/>
              <a:t>/</a:t>
            </a:r>
            <a:r>
              <a:rPr lang="zh-CN" altLang="en-US"/>
              <a:t>下，不重复计数。随后按 </a:t>
            </a:r>
            <a:r>
              <a:rPr lang="en-US" altLang="zh-CN"/>
              <a:t>SENSOR_ORIENTATION 0/90/180/270 </a:t>
            </a:r>
            <a:r>
              <a:rPr lang="zh-CN" altLang="en-US"/>
              <a:t>度置换标签。中心面积</a:t>
            </a:r>
            <a:r>
              <a:rPr lang="en-US" altLang="zh-CN"/>
              <a:t>0.3×0.3=9%</a:t>
            </a:r>
            <a:r>
              <a:rPr lang="zh-CN" altLang="en-US"/>
              <a:t>，每边</a:t>
            </a:r>
            <a:r>
              <a:rPr lang="en-US" altLang="zh-CN"/>
              <a:t>(1+0.3)×0.35/2=22.75%</a:t>
            </a:r>
            <a:r>
              <a:rPr lang="zh-CN" altLang="en-US"/>
              <a:t>。依赖项目锁定竖屏后摄，不包含 </a:t>
            </a:r>
            <a:r>
              <a:rPr lang="en-US" altLang="zh-CN"/>
              <a:t>UI </a:t>
            </a:r>
            <a:r>
              <a:rPr lang="zh-CN" altLang="en-US"/>
              <a:t>平移、纯 </a:t>
            </a:r>
            <a:r>
              <a:rPr lang="en-US" altLang="zh-CN"/>
              <a:t>UI </a:t>
            </a:r>
            <a:r>
              <a:rPr lang="zh-CN" altLang="en-US"/>
              <a:t>放大或运动补偿，不能直接推广到任意显示坐标。
</a:t>
            </a:r>
            <a:r>
              <a:rPr lang="en-US" altLang="zh-CN"/>
              <a:t>2. </a:t>
            </a:r>
            <a:r>
              <a:rPr lang="zh-CN" altLang="en-US"/>
              <a:t>统计发生在 </a:t>
            </a:r>
            <a:r>
              <a:rPr lang="en-US" altLang="zh-CN"/>
              <a:t>YUV </a:t>
            </a:r>
            <a:r>
              <a:rPr lang="zh-CN" altLang="en-US"/>
              <a:t>分析流中，不转换 </a:t>
            </a:r>
            <a:r>
              <a:rPr lang="en-US" altLang="zh-CN"/>
              <a:t>RGB</a:t>
            </a:r>
            <a:r>
              <a:rPr lang="zh-CN" altLang="en-US"/>
              <a:t>、不修改图像、不占用模型工作线程。最多 </a:t>
            </a:r>
            <a:r>
              <a:rPr lang="en-US" altLang="zh-CN"/>
              <a:t>min(W,64)×min(H,48) </a:t>
            </a:r>
            <a:r>
              <a:rPr lang="zh-CN" altLang="en-US"/>
              <a:t>个网格中心点，尊重 </a:t>
            </a:r>
            <a:r>
              <a:rPr lang="en-US" altLang="zh-CN"/>
              <a:t>ByteBuffer.position</a:t>
            </a:r>
            <a:r>
              <a:rPr lang="zh-CN" altLang="en-US"/>
              <a:t>、</a:t>
            </a:r>
            <a:r>
              <a:rPr lang="en-US" altLang="zh-CN"/>
              <a:t>rowStride</a:t>
            </a:r>
            <a:r>
              <a:rPr lang="zh-CN" altLang="en-US"/>
              <a:t>、</a:t>
            </a:r>
            <a:r>
              <a:rPr lang="en-US" altLang="zh-CN"/>
              <a:t>pixelStride</a:t>
            </a:r>
            <a:r>
              <a:rPr lang="zh-CN" altLang="en-US"/>
              <a:t>。相机回调最短间隔</a:t>
            </a:r>
            <a:r>
              <a:rPr lang="en-US" altLang="zh-CN"/>
              <a:t>500ms</a:t>
            </a:r>
            <a:r>
              <a:rPr lang="zh-CN" altLang="en-US"/>
              <a:t>，</a:t>
            </a:r>
            <a:r>
              <a:rPr lang="en-US" altLang="zh-CN"/>
              <a:t>UI</a:t>
            </a:r>
            <a:r>
              <a:rPr lang="zh-CN" altLang="en-US"/>
              <a:t>策略轮询</a:t>
            </a:r>
            <a:r>
              <a:rPr lang="en-US" altLang="zh-CN"/>
              <a:t>500ms</a:t>
            </a:r>
            <a:r>
              <a:rPr lang="zh-CN" altLang="en-US"/>
              <a:t>，不保证严格等周期。
</a:t>
            </a:r>
            <a:r>
              <a:rPr lang="en-US" altLang="zh-CN"/>
              <a:t>3. </a:t>
            </a:r>
            <a:r>
              <a:rPr lang="zh-CN" altLang="en-US"/>
              <a:t>每区直方图两端各去 </a:t>
            </a:r>
            <a:r>
              <a:rPr lang="en-US" altLang="zh-CN"/>
              <a:t>floor(N_i/20) </a:t>
            </a:r>
            <a:r>
              <a:rPr lang="zh-CN" altLang="en-US"/>
              <a:t>个样本，按剩余样本求均值 </a:t>
            </a:r>
            <a:r>
              <a:rPr lang="en-US" altLang="zh-CN"/>
              <a:t>Mi</a:t>
            </a:r>
            <a:r>
              <a:rPr lang="zh-CN" altLang="en-US"/>
              <a:t>。高亮占比、</a:t>
            </a:r>
            <a:r>
              <a:rPr lang="en-US" altLang="zh-CN"/>
              <a:t>P20</a:t>
            </a:r>
            <a:r>
              <a:rPr lang="zh-CN" altLang="en-US"/>
              <a:t>、</a:t>
            </a:r>
            <a:r>
              <a:rPr lang="en-US" altLang="zh-CN"/>
              <a:t>P99</a:t>
            </a:r>
            <a:r>
              <a:rPr lang="zh-CN" altLang="en-US"/>
              <a:t>仍用未截尾采样，不可混用。
</a:t>
            </a:r>
            <a:r>
              <a:rPr lang="en-US" altLang="zh-CN"/>
              <a:t>4. G</a:t>
            </a:r>
            <a:r>
              <a:rPr lang="zh-CN" altLang="en-US"/>
              <a:t>为固定区域权重的几何平均，先把</a:t>
            </a:r>
            <a:r>
              <a:rPr lang="en-US" altLang="zh-CN"/>
              <a:t>Mi</a:t>
            </a:r>
            <a:r>
              <a:rPr lang="zh-CN" altLang="en-US"/>
              <a:t>限制为至少</a:t>
            </a:r>
            <a:r>
              <a:rPr lang="en-US" altLang="zh-CN"/>
              <a:t>1</a:t>
            </a:r>
            <a:r>
              <a:rPr lang="zh-CN" altLang="en-US"/>
              <a:t>；全黑时</a:t>
            </a:r>
            <a:r>
              <a:rPr lang="en-US" altLang="zh-CN"/>
              <a:t>G=1</a:t>
            </a:r>
            <a:r>
              <a:rPr lang="zh-CN" altLang="en-US"/>
              <a:t>，并非</a:t>
            </a:r>
            <a:r>
              <a:rPr lang="en-US" altLang="zh-CN"/>
              <a:t>0</a:t>
            </a:r>
            <a:r>
              <a:rPr lang="zh-CN" altLang="en-US"/>
              <a:t>。权重中心</a:t>
            </a:r>
            <a:r>
              <a:rPr lang="en-US" altLang="zh-CN"/>
              <a:t>0.4</a:t>
            </a:r>
            <a:r>
              <a:rPr lang="zh-CN" altLang="en-US"/>
              <a:t>、四边各</a:t>
            </a:r>
            <a:r>
              <a:rPr lang="en-US" altLang="zh-CN"/>
              <a:t>0.15</a:t>
            </a:r>
            <a:r>
              <a:rPr lang="zh-CN" altLang="en-US"/>
              <a:t>，不再乘面积。减弱单个亮区域影响不意味着识别天空。
</a:t>
            </a:r>
            <a:r>
              <a:rPr lang="en-US" altLang="zh-CN"/>
              <a:t>5. P20</a:t>
            </a:r>
            <a:r>
              <a:rPr lang="zh-CN" altLang="en-US"/>
              <a:t>取中心亮度从暗到亮排序后第</a:t>
            </a:r>
            <a:r>
              <a:rPr lang="en-US" altLang="zh-CN"/>
              <a:t>ceil(0.20N)</a:t>
            </a:r>
            <a:r>
              <a:rPr lang="zh-CN" altLang="en-US"/>
              <a:t>个值，</a:t>
            </a:r>
            <a:r>
              <a:rPr lang="en-US" altLang="zh-CN"/>
              <a:t>P99</a:t>
            </a:r>
            <a:r>
              <a:rPr lang="zh-CN" altLang="en-US"/>
              <a:t>取全图第</a:t>
            </a:r>
            <a:r>
              <a:rPr lang="en-US" altLang="zh-CN"/>
              <a:t>ceil(0.99N)</a:t>
            </a:r>
            <a:r>
              <a:rPr lang="zh-CN" altLang="en-US"/>
              <a:t>个值。中心</a:t>
            </a:r>
            <a:r>
              <a:rPr lang="en-US" altLang="zh-CN"/>
              <a:t>100</a:t>
            </a:r>
            <a:r>
              <a:rPr lang="zh-CN" altLang="en-US"/>
              <a:t>点时</a:t>
            </a:r>
            <a:r>
              <a:rPr lang="en-US" altLang="zh-CN"/>
              <a:t>P20</a:t>
            </a:r>
            <a:r>
              <a:rPr lang="zh-CN" altLang="en-US"/>
              <a:t>是第</a:t>
            </a:r>
            <a:r>
              <a:rPr lang="en-US" altLang="zh-CN"/>
              <a:t>20</a:t>
            </a:r>
            <a:r>
              <a:rPr lang="zh-CN" altLang="en-US"/>
              <a:t>个，不是最暗</a:t>
            </a:r>
            <a:r>
              <a:rPr lang="en-US" altLang="zh-CN"/>
              <a:t>20</a:t>
            </a:r>
            <a:r>
              <a:rPr lang="zh-CN" altLang="en-US"/>
              <a:t>点的平均值。任一区无采样则五区统计无效，不驱动曝光。
</a:t>
            </a:r>
            <a:r>
              <a:rPr lang="en-US" altLang="zh-CN"/>
              <a:t>6. qi=</a:t>
            </a:r>
            <a:r>
              <a:rPr lang="zh-CN" altLang="en-US"/>
              <a:t>该区</a:t>
            </a:r>
            <a:r>
              <a:rPr lang="en-US" altLang="zh-CN"/>
              <a:t>Y&gt;=235</a:t>
            </a:r>
            <a:r>
              <a:rPr lang="zh-CN" altLang="en-US"/>
              <a:t>的数量</a:t>
            </a:r>
            <a:r>
              <a:rPr lang="en-US" altLang="zh-CN"/>
              <a:t>/</a:t>
            </a:r>
            <a:r>
              <a:rPr lang="zh-CN" altLang="en-US"/>
              <a:t>该区总数，</a:t>
            </a:r>
            <a:r>
              <a:rPr lang="en-US" altLang="zh-CN"/>
              <a:t>H=</a:t>
            </a:r>
            <a:r>
              <a:rPr lang="zh-CN" altLang="en-US"/>
              <a:t>加权高亮占比</a:t>
            </a:r>
            <a:r>
              <a:rPr lang="en-US" altLang="zh-CN"/>
              <a:t>&gt;=0.35 </a:t>
            </a:r>
            <a:r>
              <a:rPr lang="zh-CN" altLang="en-US"/>
              <a:t>或至少</a:t>
            </a:r>
            <a:r>
              <a:rPr lang="en-US" altLang="zh-CN"/>
              <a:t>3</a:t>
            </a:r>
            <a:r>
              <a:rPr lang="zh-CN" altLang="en-US"/>
              <a:t>区</a:t>
            </a:r>
            <a:r>
              <a:rPr lang="en-US" altLang="zh-CN"/>
              <a:t>qi&gt;=0.25</a:t>
            </a:r>
            <a:r>
              <a:rPr lang="zh-CN" altLang="en-US"/>
              <a:t>。</a:t>
            </a:r>
            <a:r>
              <a:rPr lang="en-US" altLang="zh-CN"/>
              <a:t>SDR</a:t>
            </a:r>
            <a:r>
              <a:rPr lang="zh-CN" altLang="en-US"/>
              <a:t>有限范围接近白端，全范围约</a:t>
            </a:r>
            <a:r>
              <a:rPr lang="en-US" altLang="zh-CN"/>
              <a:t>92%</a:t>
            </a:r>
            <a:r>
              <a:rPr lang="zh-CN" altLang="en-US"/>
              <a:t>；不能由此断言</a:t>
            </a:r>
            <a:r>
              <a:rPr lang="en-US" altLang="zh-CN"/>
              <a:t>RAW</a:t>
            </a:r>
            <a:r>
              <a:rPr lang="zh-CN" altLang="en-US"/>
              <a:t>饱和或传感器过曝。
源文件（项目 </a:t>
            </a:r>
            <a:r>
              <a:rPr lang="en-US" altLang="zh-CN"/>
              <a:t>feature/camera/domain/backlightbalance</a:t>
            </a:r>
            <a:r>
              <a:rPr lang="zh-CN" altLang="en-US"/>
              <a:t>）：
</a:t>
            </a:r>
            <a:r>
              <a:rPr lang="en-US" altLang="zh-CN"/>
              <a:t>RegionalMetering.kt</a:t>
            </a:r>
            <a:r>
              <a:rPr lang="zh-CN" altLang="en-US"/>
              <a:t>、</a:t>
            </a:r>
            <a:r>
              <a:rPr lang="en-US" altLang="zh-CN"/>
              <a:t>HighlightStatistics.kt</a:t>
            </a:r>
            <a:r>
              <a:rPr lang="zh-CN" altLang="en-US"/>
              <a:t>。</a:t>
            </a:r>
          </a:p>
          <a:p>
            <a:r>
              <a:rPr lang="zh-CN" altLang="en-US"/>
              <a:t>示意图外框宽</a:t>
            </a:r>
            <a:r>
              <a:rPr lang="en-US" altLang="zh-CN"/>
              <a:t>180 pt</a:t>
            </a:r>
            <a:r>
              <a:rPr lang="zh-CN" altLang="en-US"/>
              <a:t>、高</a:t>
            </a:r>
            <a:r>
              <a:rPr lang="en-US" altLang="zh-CN"/>
              <a:t>320 pt</a:t>
            </a:r>
            <a:r>
              <a:rPr lang="zh-CN" altLang="en-US"/>
              <a:t>，宽</a:t>
            </a:r>
            <a:r>
              <a:rPr lang="en-US" altLang="zh-CN"/>
              <a:t>:</a:t>
            </a:r>
            <a:r>
              <a:rPr lang="zh-CN" altLang="en-US"/>
              <a:t>高</a:t>
            </a:r>
            <a:r>
              <a:rPr lang="en-US" altLang="zh-CN"/>
              <a:t>=9:16</a:t>
            </a:r>
            <a:r>
              <a:rPr lang="zh-CN" altLang="en-US"/>
              <a:t>；中心宽</a:t>
            </a:r>
            <a:r>
              <a:rPr lang="en-US" altLang="zh-CN"/>
              <a:t>54 pt</a:t>
            </a:r>
            <a:r>
              <a:rPr lang="zh-CN" altLang="en-US"/>
              <a:t>、高</a:t>
            </a:r>
            <a:r>
              <a:rPr lang="en-US" altLang="zh-CN"/>
              <a:t>96 pt</a:t>
            </a:r>
            <a:r>
              <a:rPr lang="zh-CN" altLang="en-US"/>
              <a:t>，面积比例与测光权重不变。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C87EE7-3CBF-4078-8869-0D8B5C5DC20F}" type="slidenum">
              <a:rPr lang="ko-KR" altLang="en-US" smtClean="0"/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第二页讲解与精确边界</a:t>
            </a:r>
            <a:r>
              <a:rPr lang="en-US" altLang="zh-CN"/>
              <a:t>】
1. s</a:t>
            </a:r>
            <a:r>
              <a:rPr lang="zh-CN" altLang="en-US"/>
              <a:t>为设备曝光补偿步进，硬件整数档位</a:t>
            </a:r>
            <a:r>
              <a:rPr lang="en-US" altLang="zh-CN"/>
              <a:t>b=range.indexFor(manualEv)</a:t>
            </a:r>
            <a:r>
              <a:rPr lang="zh-CN" altLang="en-US"/>
              <a:t>为基线，当前档位</a:t>
            </a:r>
            <a:r>
              <a:rPr lang="en-US" altLang="zh-CN"/>
              <a:t>k</a:t>
            </a:r>
            <a:r>
              <a:rPr lang="zh-CN" altLang="en-US"/>
              <a:t>初值</a:t>
            </a:r>
            <a:r>
              <a:rPr lang="en-US" altLang="zh-CN"/>
              <a:t>b</a:t>
            </a:r>
            <a:r>
              <a:rPr lang="zh-CN" altLang="en-US"/>
              <a:t>。步幅档数</a:t>
            </a:r>
            <a:r>
              <a:rPr lang="en-US" altLang="zh-CN"/>
              <a:t>n=max(1,ceil((1/3)/s-0.001))</a:t>
            </a:r>
            <a:r>
              <a:rPr lang="zh-CN" altLang="en-US"/>
              <a:t>，</a:t>
            </a:r>
            <a:r>
              <a:rPr lang="en-US" altLang="zh-CN"/>
              <a:t>Δ=n*s</a:t>
            </a:r>
            <a:r>
              <a:rPr lang="zh-CN" altLang="en-US"/>
              <a:t>。</a:t>
            </a:r>
            <a:r>
              <a:rPr lang="en-US" altLang="zh-CN"/>
              <a:t>0.001</a:t>
            </a:r>
            <a:r>
              <a:rPr lang="zh-CN" altLang="en-US"/>
              <a:t>仅处理浮点边界。
下限</a:t>
            </a:r>
            <a:r>
              <a:rPr lang="en-US" altLang="zh-CN"/>
              <a:t>=max(</a:t>
            </a:r>
            <a:r>
              <a:rPr lang="zh-CN" altLang="en-US"/>
              <a:t>硬件最小档</a:t>
            </a:r>
            <a:r>
              <a:rPr lang="en-US" altLang="zh-CN"/>
              <a:t>,b-floor((2/3+0.0001)/s))</a:t>
            </a:r>
            <a:r>
              <a:rPr lang="zh-CN" altLang="en-US"/>
              <a:t>；
上限</a:t>
            </a:r>
            <a:r>
              <a:rPr lang="en-US" altLang="zh-CN"/>
              <a:t>=min(</a:t>
            </a:r>
            <a:r>
              <a:rPr lang="zh-CN" altLang="en-US"/>
              <a:t>硬件最大档</a:t>
            </a:r>
            <a:r>
              <a:rPr lang="en-US" altLang="zh-CN"/>
              <a:t>,b+floor((1+0.0001)/s))</a:t>
            </a:r>
            <a:r>
              <a:rPr lang="zh-CN" altLang="en-US"/>
              <a:t>。
例如</a:t>
            </a:r>
            <a:r>
              <a:rPr lang="en-US" altLang="zh-CN"/>
              <a:t>s=0.1</a:t>
            </a:r>
            <a:r>
              <a:rPr lang="zh-CN" altLang="en-US"/>
              <a:t>时</a:t>
            </a:r>
            <a:r>
              <a:rPr lang="en-US" altLang="zh-CN"/>
              <a:t>Δ=0.4</a:t>
            </a:r>
            <a:r>
              <a:rPr lang="zh-CN" altLang="en-US"/>
              <a:t>，相对上下限为</a:t>
            </a:r>
            <a:r>
              <a:rPr lang="en-US" altLang="zh-CN"/>
              <a:t>-0.6</a:t>
            </a:r>
            <a:r>
              <a:rPr lang="zh-CN" altLang="en-US"/>
              <a:t>、</a:t>
            </a:r>
            <a:r>
              <a:rPr lang="en-US" altLang="zh-CN"/>
              <a:t>+1.0 EV</a:t>
            </a:r>
            <a:r>
              <a:rPr lang="zh-CN" altLang="en-US"/>
              <a:t>；最后一步按范围截断。</a:t>
            </a:r>
            <a:r>
              <a:rPr lang="en-US" altLang="zh-CN"/>
              <a:t>s</a:t>
            </a:r>
            <a:r>
              <a:rPr lang="zh-CN" altLang="en-US"/>
              <a:t>较粗时可能没有负向可用档位。
</a:t>
            </a:r>
            <a:r>
              <a:rPr lang="en-US" altLang="zh-CN"/>
              <a:t>2. e=ln(112/G)/ln(2)</a:t>
            </a:r>
            <a:r>
              <a:rPr lang="zh-CN" altLang="en-US"/>
              <a:t>，</a:t>
            </a:r>
            <a:r>
              <a:rPr lang="en-US" altLang="zh-CN"/>
              <a:t>d=max(0.35,0.6Δ)</a:t>
            </a:r>
            <a:r>
              <a:rPr lang="zh-CN" altLang="en-US"/>
              <a:t>。仅在无其他保护且未到边界时：</a:t>
            </a:r>
            <a:r>
              <a:rPr lang="en-US" altLang="zh-CN"/>
              <a:t>e&gt;d</a:t>
            </a:r>
            <a:r>
              <a:rPr lang="zh-CN" altLang="en-US"/>
              <a:t>要求提亮，</a:t>
            </a:r>
            <a:r>
              <a:rPr lang="en-US" altLang="zh-CN"/>
              <a:t>e&lt;-d</a:t>
            </a:r>
            <a:r>
              <a:rPr lang="zh-CN" altLang="en-US"/>
              <a:t>要求降曝。</a:t>
            </a:r>
            <a:r>
              <a:rPr lang="en-US" altLang="zh-CN"/>
              <a:t>Δ</a:t>
            </a:r>
            <a:r>
              <a:rPr lang="zh-CN" altLang="en-US"/>
              <a:t>为常见值且</a:t>
            </a:r>
            <a:r>
              <a:rPr lang="en-US" altLang="zh-CN"/>
              <a:t>d=0.35</a:t>
            </a:r>
            <a:r>
              <a:rPr lang="zh-CN" altLang="en-US"/>
              <a:t>时，对应</a:t>
            </a:r>
            <a:r>
              <a:rPr lang="en-US" altLang="zh-CN"/>
              <a:t>G&lt;</a:t>
            </a:r>
            <a:r>
              <a:rPr lang="zh-CN" altLang="en-US"/>
              <a:t>约</a:t>
            </a:r>
            <a:r>
              <a:rPr lang="en-US" altLang="zh-CN"/>
              <a:t>87.87</a:t>
            </a:r>
            <a:r>
              <a:rPr lang="zh-CN" altLang="en-US"/>
              <a:t>与</a:t>
            </a:r>
            <a:r>
              <a:rPr lang="en-US" altLang="zh-CN"/>
              <a:t>G&gt;</a:t>
            </a:r>
            <a:r>
              <a:rPr lang="zh-CN" altLang="en-US"/>
              <a:t>约</a:t>
            </a:r>
            <a:r>
              <a:rPr lang="en-US" altLang="zh-CN"/>
              <a:t>142.75</a:t>
            </a:r>
            <a:r>
              <a:rPr lang="zh-CN" altLang="en-US"/>
              <a:t>；</a:t>
            </a:r>
            <a:r>
              <a:rPr lang="en-US" altLang="zh-CN"/>
              <a:t>e</a:t>
            </a:r>
            <a:r>
              <a:rPr lang="zh-CN" altLang="en-US"/>
              <a:t>等于</a:t>
            </a:r>
            <a:r>
              <a:rPr lang="en-US" altLang="zh-CN"/>
              <a:t>±d</a:t>
            </a:r>
            <a:r>
              <a:rPr lang="zh-CN" altLang="en-US"/>
              <a:t>不按亮度误差触发。</a:t>
            </a:r>
            <a:r>
              <a:rPr lang="en-US" altLang="zh-CN"/>
              <a:t>H</a:t>
            </a:r>
            <a:r>
              <a:rPr lang="zh-CN" altLang="en-US"/>
              <a:t>仍可触发降曝，因此「接近</a:t>
            </a:r>
            <a:r>
              <a:rPr lang="en-US" altLang="zh-CN"/>
              <a:t>112</a:t>
            </a:r>
            <a:r>
              <a:rPr lang="zh-CN" altLang="en-US"/>
              <a:t>必然保持」并不严谨。
</a:t>
            </a:r>
            <a:r>
              <a:rPr lang="en-US" altLang="zh-CN"/>
              <a:t>3. </a:t>
            </a:r>
            <a:r>
              <a:rPr lang="zh-CN" altLang="en-US"/>
              <a:t>先更新中心保护锁存：</a:t>
            </a:r>
            <a:r>
              <a:rPr lang="en-US" altLang="zh-CN"/>
              <a:t>P20&lt;64</a:t>
            </a:r>
            <a:r>
              <a:rPr lang="zh-CN" altLang="en-US"/>
              <a:t>为真，</a:t>
            </a:r>
            <a:r>
              <a:rPr lang="en-US" altLang="zh-CN"/>
              <a:t>P20&gt;=96</a:t>
            </a:r>
            <a:r>
              <a:rPr lang="zh-CN" altLang="en-US"/>
              <a:t>为假，中间保留；初始</a:t>
            </a:r>
            <a:r>
              <a:rPr lang="en-US" altLang="zh-CN"/>
              <a:t>false</a:t>
            </a:r>
            <a:r>
              <a:rPr lang="zh-CN" altLang="en-US"/>
              <a:t>。按页面</a:t>
            </a:r>
            <a:r>
              <a:rPr lang="en-US" altLang="zh-CN"/>
              <a:t>1→5</a:t>
            </a:r>
            <a:r>
              <a:rPr lang="zh-CN" altLang="en-US"/>
              <a:t>顺序匹配，首条命中：
</a:t>
            </a:r>
            <a:r>
              <a:rPr lang="en-US" altLang="zh-CN"/>
              <a:t>(a) P20&lt;40</a:t>
            </a:r>
            <a:r>
              <a:rPr lang="zh-CN" altLang="en-US"/>
              <a:t>且</a:t>
            </a:r>
            <a:r>
              <a:rPr lang="en-US" altLang="zh-CN"/>
              <a:t>k&lt;b</a:t>
            </a:r>
            <a:r>
              <a:rPr lang="zh-CN" altLang="en-US"/>
              <a:t>：方向</a:t>
            </a:r>
            <a:r>
              <a:rPr lang="en-US" altLang="zh-CN"/>
              <a:t>+1</a:t>
            </a:r>
            <a:r>
              <a:rPr lang="zh-CN" altLang="en-US"/>
              <a:t>，优先于</a:t>
            </a:r>
            <a:r>
              <a:rPr lang="en-US" altLang="zh-CN"/>
              <a:t>H</a:t>
            </a:r>
            <a:r>
              <a:rPr lang="zh-CN" altLang="en-US"/>
              <a:t>与</a:t>
            </a:r>
            <a:r>
              <a:rPr lang="en-US" altLang="zh-CN"/>
              <a:t>P99</a:t>
            </a:r>
            <a:r>
              <a:rPr lang="zh-CN" altLang="en-US"/>
              <a:t>；
</a:t>
            </a:r>
            <a:r>
              <a:rPr lang="en-US" altLang="zh-CN"/>
              <a:t>(b) e&gt;d</a:t>
            </a:r>
            <a:r>
              <a:rPr lang="zh-CN" altLang="en-US"/>
              <a:t>且</a:t>
            </a:r>
            <a:r>
              <a:rPr lang="en-US" altLang="zh-CN"/>
              <a:t>H</a:t>
            </a:r>
            <a:r>
              <a:rPr lang="zh-CN" altLang="en-US"/>
              <a:t>：</a:t>
            </a:r>
            <a:r>
              <a:rPr lang="en-US" altLang="zh-CN"/>
              <a:t>0</a:t>
            </a:r>
            <a:r>
              <a:rPr lang="zh-CN" altLang="en-US"/>
              <a:t>；
</a:t>
            </a:r>
            <a:r>
              <a:rPr lang="en-US" altLang="zh-CN"/>
              <a:t>(c) e&gt;d</a:t>
            </a:r>
            <a:r>
              <a:rPr lang="zh-CN" altLang="en-US"/>
              <a:t>且</a:t>
            </a:r>
            <a:r>
              <a:rPr lang="en-US" altLang="zh-CN"/>
              <a:t>k&lt;b</a:t>
            </a:r>
            <a:r>
              <a:rPr lang="zh-CN" altLang="en-US"/>
              <a:t>且</a:t>
            </a:r>
            <a:r>
              <a:rPr lang="en-US" altLang="zh-CN"/>
              <a:t>P99&gt;=T</a:t>
            </a:r>
            <a:r>
              <a:rPr lang="zh-CN" altLang="en-US"/>
              <a:t>：</a:t>
            </a:r>
            <a:r>
              <a:rPr lang="en-US" altLang="zh-CN"/>
              <a:t>0</a:t>
            </a:r>
            <a:r>
              <a:rPr lang="zh-CN" altLang="en-US"/>
              <a:t>；
</a:t>
            </a:r>
            <a:r>
              <a:rPr lang="en-US" altLang="zh-CN"/>
              <a:t>(d) e&gt;d</a:t>
            </a:r>
            <a:r>
              <a:rPr lang="zh-CN" altLang="en-US"/>
              <a:t>且</a:t>
            </a:r>
            <a:r>
              <a:rPr lang="en-US" altLang="zh-CN"/>
              <a:t>k&lt;</a:t>
            </a:r>
            <a:r>
              <a:rPr lang="zh-CN" altLang="en-US"/>
              <a:t>上限：</a:t>
            </a:r>
            <a:r>
              <a:rPr lang="en-US" altLang="zh-CN"/>
              <a:t>+1</a:t>
            </a:r>
            <a:r>
              <a:rPr lang="zh-CN" altLang="en-US"/>
              <a:t>；
</a:t>
            </a:r>
            <a:r>
              <a:rPr lang="en-US" altLang="zh-CN"/>
              <a:t>(e) (e&lt;-d</a:t>
            </a:r>
            <a:r>
              <a:rPr lang="zh-CN" altLang="en-US"/>
              <a:t>或</a:t>
            </a:r>
            <a:r>
              <a:rPr lang="en-US" altLang="zh-CN"/>
              <a:t>H)</a:t>
            </a:r>
            <a:r>
              <a:rPr lang="zh-CN" altLang="en-US"/>
              <a:t>且无中心保护且</a:t>
            </a:r>
            <a:r>
              <a:rPr lang="en-US" altLang="zh-CN"/>
              <a:t>k&gt;</a:t>
            </a:r>
            <a:r>
              <a:rPr lang="zh-CN" altLang="en-US"/>
              <a:t>下限：</a:t>
            </a:r>
            <a:r>
              <a:rPr lang="en-US" altLang="zh-CN"/>
              <a:t>-1</a:t>
            </a:r>
            <a:r>
              <a:rPr lang="zh-CN" altLang="en-US"/>
              <a:t>；
</a:t>
            </a:r>
            <a:r>
              <a:rPr lang="en-US" altLang="zh-CN"/>
              <a:t>(f) </a:t>
            </a:r>
            <a:r>
              <a:rPr lang="zh-CN" altLang="en-US"/>
              <a:t>其他</a:t>
            </a:r>
            <a:r>
              <a:rPr lang="en-US" altLang="zh-CN"/>
              <a:t>0</a:t>
            </a:r>
            <a:r>
              <a:rPr lang="zh-CN" altLang="en-US"/>
              <a:t>。
页面将</a:t>
            </a:r>
            <a:r>
              <a:rPr lang="en-US" altLang="zh-CN"/>
              <a:t>(b)(c)</a:t>
            </a:r>
            <a:r>
              <a:rPr lang="zh-CN" altLang="en-US"/>
              <a:t>合并为一行。</a:t>
            </a:r>
            <a:r>
              <a:rPr lang="en-US" altLang="zh-CN"/>
              <a:t>P20&lt;40</a:t>
            </a:r>
            <a:r>
              <a:rPr lang="zh-CN" altLang="en-US"/>
              <a:t>分支仍需</a:t>
            </a:r>
            <a:r>
              <a:rPr lang="en-US" altLang="zh-CN"/>
              <a:t>3</a:t>
            </a:r>
            <a:r>
              <a:rPr lang="zh-CN" altLang="en-US"/>
              <a:t>条确认与稳定期，并非立即归零；按统一步幅更新，可能跨过手动基线，不能宣称只恢复到基线。
</a:t>
            </a:r>
            <a:r>
              <a:rPr lang="en-US" altLang="zh-CN"/>
              <a:t>4. T=floor(16+219/2^Δ-8)</a:t>
            </a:r>
            <a:r>
              <a:rPr lang="zh-CN" altLang="en-US"/>
              <a:t>。</a:t>
            </a:r>
            <a:r>
              <a:rPr lang="en-US" altLang="zh-CN"/>
              <a:t>Δ=1/3</a:t>
            </a:r>
            <a:r>
              <a:rPr lang="zh-CN" altLang="en-US"/>
              <a:t>时未取整为</a:t>
            </a:r>
            <a:r>
              <a:rPr lang="en-US" altLang="zh-CN"/>
              <a:t>181.8184</a:t>
            </a:r>
            <a:r>
              <a:rPr lang="zh-CN" altLang="en-US"/>
              <a:t>，代码取整后</a:t>
            </a:r>
            <a:r>
              <a:rPr lang="en-US" altLang="zh-CN"/>
              <a:t>181</a:t>
            </a:r>
            <a:r>
              <a:rPr lang="zh-CN" altLang="en-US"/>
              <a:t>；不是此前文字口述的约</a:t>
            </a:r>
            <a:r>
              <a:rPr lang="en-US" altLang="zh-CN"/>
              <a:t>182</a:t>
            </a:r>
            <a:r>
              <a:rPr lang="zh-CN" altLang="en-US"/>
              <a:t>。它是</a:t>
            </a:r>
            <a:r>
              <a:rPr lang="en-US" altLang="zh-CN"/>
              <a:t>SDR</a:t>
            </a:r>
            <a:r>
              <a:rPr lang="zh-CN" altLang="en-US"/>
              <a:t>编码域经验余量，不是精确物理曝光预测。只限制负补偿回升，不限制所有正向提亮；深暗中心优先恢复可绕过该保护。
</a:t>
            </a:r>
            <a:r>
              <a:rPr lang="en-US" altLang="zh-CN"/>
              <a:t>5. </a:t>
            </a:r>
            <a:r>
              <a:rPr lang="zh-CN" altLang="en-US"/>
              <a:t>启动</a:t>
            </a:r>
            <a:r>
              <a:rPr lang="en-US" altLang="zh-CN"/>
              <a:t>/pause</a:t>
            </a:r>
            <a:r>
              <a:rPr lang="zh-CN" altLang="en-US"/>
              <a:t>时清空确认并等待</a:t>
            </a:r>
            <a:r>
              <a:rPr lang="en-US" altLang="zh-CN"/>
              <a:t>1.5s</a:t>
            </a:r>
            <a:r>
              <a:rPr lang="zh-CN" altLang="en-US"/>
              <a:t>。只计时间戳递增、年龄</a:t>
            </a:r>
            <a:r>
              <a:rPr lang="en-US" altLang="zh-CN"/>
              <a:t>&lt;=1.5s</a:t>
            </a:r>
            <a:r>
              <a:rPr lang="zh-CN" altLang="en-US"/>
              <a:t>的有效样本；重复不累计且不直接清空。稳定期内样本不累计。连续</a:t>
            </a:r>
            <a:r>
              <a:rPr lang="en-US" altLang="zh-CN"/>
              <a:t>3</a:t>
            </a:r>
            <a:r>
              <a:rPr lang="zh-CN" altLang="en-US"/>
              <a:t>条同方向确认后，</a:t>
            </a:r>
            <a:r>
              <a:rPr lang="en-US" altLang="zh-CN"/>
              <a:t>k=clamp(k+</a:t>
            </a:r>
            <a:r>
              <a:rPr lang="zh-CN" altLang="en-US"/>
              <a:t>方向*</a:t>
            </a:r>
            <a:r>
              <a:rPr lang="en-US" altLang="zh-CN"/>
              <a:t>n,</a:t>
            </a:r>
            <a:r>
              <a:rPr lang="zh-CN" altLang="en-US"/>
              <a:t>下限</a:t>
            </a:r>
            <a:r>
              <a:rPr lang="en-US" altLang="zh-CN"/>
              <a:t>,</a:t>
            </a:r>
            <a:r>
              <a:rPr lang="zh-CN" altLang="en-US"/>
              <a:t>上限</a:t>
            </a:r>
            <a:r>
              <a:rPr lang="en-US" altLang="zh-CN"/>
              <a:t>)</a:t>
            </a:r>
            <a:r>
              <a:rPr lang="zh-CN" altLang="en-US"/>
              <a:t>，清计数并再等待</a:t>
            </a:r>
            <a:r>
              <a:rPr lang="en-US" altLang="zh-CN"/>
              <a:t>1.5s</a:t>
            </a:r>
            <a:r>
              <a:rPr lang="zh-CN" altLang="en-US"/>
              <a:t>。方向改变时本条作为新方向第</a:t>
            </a:r>
            <a:r>
              <a:rPr lang="en-US" altLang="zh-CN"/>
              <a:t>1</a:t>
            </a:r>
            <a:r>
              <a:rPr lang="zh-CN" altLang="en-US"/>
              <a:t>条，保持则清零。不是每</a:t>
            </a:r>
            <a:r>
              <a:rPr lang="en-US" altLang="zh-CN"/>
              <a:t>1.5s</a:t>
            </a:r>
            <a:r>
              <a:rPr lang="zh-CN" altLang="en-US"/>
              <a:t>固定改变一次。
</a:t>
            </a:r>
            <a:r>
              <a:rPr lang="en-US" altLang="zh-CN"/>
              <a:t>6. CameraScreen</a:t>
            </a:r>
            <a:r>
              <a:rPr lang="zh-CN" altLang="en-US"/>
              <a:t>关闭或切换模式恢复手动</a:t>
            </a:r>
            <a:r>
              <a:rPr lang="en-US" altLang="zh-CN"/>
              <a:t>EV</a:t>
            </a:r>
            <a:r>
              <a:rPr lang="zh-CN" altLang="en-US"/>
              <a:t>基线；无效</a:t>
            </a:r>
            <a:r>
              <a:rPr lang="en-US" altLang="zh-CN"/>
              <a:t>/</a:t>
            </a:r>
            <a:r>
              <a:rPr lang="zh-CN" altLang="en-US"/>
              <a:t>过期统计撤销已有正负补偿。进入参数面板、校准</a:t>
            </a:r>
            <a:r>
              <a:rPr lang="en-US" altLang="zh-CN"/>
              <a:t>/</a:t>
            </a:r>
            <a:r>
              <a:rPr lang="zh-CN" altLang="en-US"/>
              <a:t>后台等有重启</a:t>
            </a:r>
            <a:r>
              <a:rPr lang="en-US" altLang="zh-CN"/>
              <a:t>/</a:t>
            </a:r>
            <a:r>
              <a:rPr lang="zh-CN" altLang="en-US"/>
              <a:t>暂停逻辑；测量等业务冻结调整。点击测光及手动快门暂停五区自动</a:t>
            </a:r>
            <a:r>
              <a:rPr lang="en-US" altLang="zh-CN"/>
              <a:t>EV</a:t>
            </a:r>
            <a:r>
              <a:rPr lang="zh-CN" altLang="en-US"/>
              <a:t>；手动快门</a:t>
            </a:r>
            <a:r>
              <a:rPr lang="en-US" altLang="zh-CN"/>
              <a:t>AE_OFF</a:t>
            </a:r>
            <a:r>
              <a:rPr lang="zh-CN" altLang="en-US"/>
              <a:t>，不能再由</a:t>
            </a:r>
            <a:r>
              <a:rPr lang="en-US" altLang="zh-CN"/>
              <a:t>EV</a:t>
            </a:r>
            <a:r>
              <a:rPr lang="zh-CN" altLang="en-US"/>
              <a:t>闭环控制。逆光平衡运行时暂停自动</a:t>
            </a:r>
            <a:r>
              <a:rPr lang="en-US" altLang="zh-CN"/>
              <a:t>HDR</a:t>
            </a:r>
            <a:r>
              <a:rPr lang="zh-CN" altLang="en-US"/>
              <a:t>判断，保留</a:t>
            </a:r>
            <a:r>
              <a:rPr lang="en-US" altLang="zh-CN"/>
              <a:t>HDR</a:t>
            </a:r>
            <a:r>
              <a:rPr lang="zh-CN" altLang="en-US"/>
              <a:t>状态与偏好；无</a:t>
            </a:r>
            <a:r>
              <a:rPr lang="en-US" altLang="zh-CN"/>
              <a:t>EV</a:t>
            </a:r>
            <a:r>
              <a:rPr lang="zh-CN" altLang="en-US"/>
              <a:t>能力或分析流时仅保留显示映射。
</a:t>
            </a:r>
            <a:r>
              <a:rPr lang="en-US" altLang="zh-CN"/>
              <a:t>7. </a:t>
            </a:r>
            <a:r>
              <a:rPr lang="zh-CN" altLang="en-US"/>
              <a:t>最终调用</a:t>
            </a:r>
            <a:r>
              <a:rPr lang="en-US" altLang="zh-CN"/>
              <a:t>setExposureCompensationEv</a:t>
            </a:r>
            <a:r>
              <a:rPr lang="zh-CN" altLang="en-US"/>
              <a:t>，实际</a:t>
            </a:r>
            <a:r>
              <a:rPr lang="en-US" altLang="zh-CN"/>
              <a:t>ISO/</a:t>
            </a:r>
            <a:r>
              <a:rPr lang="zh-CN" altLang="en-US"/>
              <a:t>快门交给</a:t>
            </a:r>
            <a:r>
              <a:rPr lang="en-US" altLang="zh-CN"/>
              <a:t>AE</a:t>
            </a:r>
            <a:r>
              <a:rPr lang="zh-CN" altLang="en-US"/>
              <a:t>，并受厂商策略、帧率、硬件范围限制。读数受</a:t>
            </a:r>
            <a:r>
              <a:rPr lang="en-US" altLang="zh-CN"/>
              <a:t>ISP</a:t>
            </a:r>
            <a:r>
              <a:rPr lang="zh-CN" altLang="en-US"/>
              <a:t>色调处理影响，此闭环不是线性传感器控制。显示增强独立于此曝光闭环，不能恢复剪切、噪声淹没的纹理，不能保证模型效果。
源文件：
</a:t>
            </a:r>
            <a:r>
              <a:rPr lang="en-US" altLang="zh-CN"/>
              <a:t>feature/camera/domain/backlightbalance/HighlightExposurePolicy.kt
feature/camera/ui/CameraScreen.kt</a:t>
            </a:r>
            <a:r>
              <a:rPr lang="zh-CN" altLang="en-US"/>
              <a:t>（五区协程）
作者：</a:t>
            </a:r>
            <a:r>
              <a:rPr lang="en-US" altLang="zh-CN"/>
              <a:t>Codex Agent</a:t>
            </a:r>
            <a:r>
              <a:rPr lang="zh-CN" altLang="en-US"/>
              <a:t>；</a:t>
            </a:r>
            <a:r>
              <a:rPr lang="en-US" altLang="zh-CN"/>
              <a:t>2026-09-22</a:t>
            </a:r>
            <a:r>
              <a:rPr lang="zh-CN" altLang="en-US"/>
              <a:t>；代码版本</a:t>
            </a:r>
            <a:r>
              <a:rPr lang="en-US" altLang="zh-CN"/>
              <a:t>fb348fb</a:t>
            </a:r>
            <a:r>
              <a:rPr lang="zh-CN" altLang="en-US"/>
              <a:t>。未修改相机算法，未开启</a:t>
            </a:r>
            <a:r>
              <a:rPr lang="en-US" altLang="zh-CN"/>
              <a:t>EIS</a:t>
            </a:r>
            <a:r>
              <a:rPr lang="zh-CN" altLang="en-US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C87EE7-3CBF-4078-8869-0D8B5C5DC20F}" type="slidenum">
              <a:rPr lang="ko-KR" altLang="en-US" smtClean="0"/>
              <a:t>2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A1750-DDF9-4AA4-9197-3F6CDE30377E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38D59-9140-4B24-9BD8-BA2512FA838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A1750-DDF9-4AA4-9197-3F6CDE30377E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38D59-9140-4B24-9BD8-BA2512FA838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A1750-DDF9-4AA4-9197-3F6CDE30377E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38D59-9140-4B24-9BD8-BA2512FA838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A1750-DDF9-4AA4-9197-3F6CDE30377E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38D59-9140-4B24-9BD8-BA2512FA838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A1750-DDF9-4AA4-9197-3F6CDE30377E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38D59-9140-4B24-9BD8-BA2512FA838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A1750-DDF9-4AA4-9197-3F6CDE30377E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38D59-9140-4B24-9BD8-BA2512FA838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A1750-DDF9-4AA4-9197-3F6CDE30377E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38D59-9140-4B24-9BD8-BA2512FA838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A1750-DDF9-4AA4-9197-3F6CDE30377E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38D59-9140-4B24-9BD8-BA2512FA838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A1750-DDF9-4AA4-9197-3F6CDE30377E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38D59-9140-4B24-9BD8-BA2512FA838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A1750-DDF9-4AA4-9197-3F6CDE30377E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38D59-9140-4B24-9BD8-BA2512FA838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A1750-DDF9-4AA4-9197-3F6CDE30377E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38D59-9140-4B24-9BD8-BA2512FA838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3"/>
          <p:cNvSpPr/>
          <p:nvPr/>
        </p:nvSpPr>
        <p:spPr>
          <a:xfrm>
            <a:off x="11212513" y="488950"/>
            <a:ext cx="336550" cy="336550"/>
          </a:xfrm>
          <a:prstGeom prst="ellipse">
            <a:avLst/>
          </a:prstGeom>
          <a:solidFill>
            <a:srgbClr val="EA5818"/>
          </a:solidFill>
          <a:ln>
            <a:solidFill>
              <a:srgbClr val="EA5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ko-KR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나눔바른고딕"/>
            </a:endParaRPr>
          </a:p>
        </p:txBody>
      </p:sp>
      <p:sp>
        <p:nvSpPr>
          <p:cNvPr id="3" name="Oval 13"/>
          <p:cNvSpPr/>
          <p:nvPr/>
        </p:nvSpPr>
        <p:spPr>
          <a:xfrm>
            <a:off x="11164888" y="439738"/>
            <a:ext cx="431800" cy="431800"/>
          </a:xfrm>
          <a:prstGeom prst="ellipse">
            <a:avLst/>
          </a:prstGeom>
          <a:noFill/>
          <a:ln>
            <a:solidFill>
              <a:srgbClr val="EA5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ko-KR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나눔바른고딕"/>
            </a:endParaRPr>
          </a:p>
        </p:txBody>
      </p:sp>
      <p:sp>
        <p:nvSpPr>
          <p:cNvPr id="7" name="Round Same Side Corner Rectangle 4"/>
          <p:cNvSpPr/>
          <p:nvPr/>
        </p:nvSpPr>
        <p:spPr>
          <a:xfrm rot="5400000">
            <a:off x="264319" y="111919"/>
            <a:ext cx="576263" cy="1104900"/>
          </a:xfrm>
          <a:prstGeom prst="round2SameRect">
            <a:avLst>
              <a:gd name="adj1" fmla="val 50000"/>
              <a:gd name="adj2" fmla="val 0"/>
            </a:avLst>
          </a:prstGeom>
          <a:noFill/>
          <a:ln>
            <a:solidFill>
              <a:srgbClr val="EA5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Round Same Side Corner Rectangle 14"/>
          <p:cNvSpPr/>
          <p:nvPr/>
        </p:nvSpPr>
        <p:spPr>
          <a:xfrm rot="5400000">
            <a:off x="287338" y="138113"/>
            <a:ext cx="481013" cy="1055688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A5818"/>
          </a:solidFill>
          <a:ln>
            <a:solidFill>
              <a:srgbClr val="EA5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Oval 15"/>
          <p:cNvSpPr/>
          <p:nvPr/>
        </p:nvSpPr>
        <p:spPr>
          <a:xfrm>
            <a:off x="614363" y="465138"/>
            <a:ext cx="400050" cy="40005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1156618" y="1132372"/>
            <a:ext cx="9691911" cy="516552"/>
          </a:xfrm>
          <a:prstGeom prst="rect">
            <a:avLst/>
          </a:prstGeom>
        </p:spPr>
        <p:txBody>
          <a:bodyPr>
            <a:spAutoFit/>
          </a:bodyPr>
          <a:lstStyle>
            <a:lvl1pPr marL="342900" indent="-342900">
              <a:buClr>
                <a:schemeClr val="accent2"/>
              </a:buClr>
              <a:buSzPct val="80000"/>
              <a:buFont typeface="Wingdings" panose="05000000000000000000" pitchFamily="2" charset="2"/>
              <a:buChar char="p"/>
              <a:defRPr sz="1400" b="0" i="0" spc="27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lt"/>
                <a:cs typeface="Times New Roman" panose="02020603050405020304" pitchFamily="18" charset="0"/>
              </a:defRPr>
            </a:lvl1pPr>
            <a:lvl2pPr marL="685800" indent="-228600"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 sz="1200" b="0" i="0">
                <a:latin typeface="+mn-lt"/>
                <a:ea typeface="+mn-lt"/>
                <a:cs typeface="Times New Roman" panose="02020603050405020304" pitchFamily="18" charset="0"/>
              </a:defRPr>
            </a:lvl2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1140461" y="431947"/>
            <a:ext cx="4925907" cy="424732"/>
          </a:xfrm>
          <a:prstGeom prst="rect">
            <a:avLst/>
          </a:prstGeom>
        </p:spPr>
        <p:txBody>
          <a:bodyPr rtlCol="0">
            <a:spAutoFit/>
          </a:bodyPr>
          <a:lstStyle>
            <a:lvl1pPr algn="l">
              <a:defRPr sz="2400" b="1" i="0" spc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53775" y="530225"/>
            <a:ext cx="460375" cy="250825"/>
          </a:xfrm>
          <a:prstGeom prst="rect">
            <a:avLst/>
          </a:prstGeom>
        </p:spPr>
        <p:txBody>
          <a:bodyPr vert="horz" wrap="square" lIns="0" tIns="0" rIns="36000" bIns="0" numCol="1" anchor="ctr" anchorCtr="0" compatLnSpc="1"/>
          <a:lstStyle/>
          <a:p>
            <a:pPr algn="ctr" eaLnBrk="1" fontAlgn="base" hangingPunct="1"/>
            <a:fld id="{9A0DB2DC-4C9A-4742-B13C-FB6460FD3503}" type="slidenum">
              <a:rPr lang="en-US" altLang="zh-CN" sz="1300" strike="noStrike" noProof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en-US" altLang="zh-CN" sz="13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日期占位符 1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/>
          <p:cNvSpPr>
            <a:spLocks noGrp="1"/>
          </p:cNvSpPr>
          <p:nvPr>
            <p:ph type="title"/>
          </p:nvPr>
        </p:nvSpPr>
        <p:spPr>
          <a:xfrm>
            <a:off x="5324949" y="2892949"/>
            <a:ext cx="3057051" cy="831125"/>
          </a:xfrm>
          <a:prstGeom prst="rect">
            <a:avLst/>
          </a:prstGeom>
        </p:spPr>
        <p:txBody>
          <a:bodyPr rtlCol="0">
            <a:spAutoFit/>
          </a:bodyPr>
          <a:lstStyle>
            <a:lvl1pPr algn="l">
              <a:defRPr sz="2665" b="1" i="1" spc="40">
                <a:solidFill>
                  <a:srgbClr val="EC6B56"/>
                </a:solidFill>
              </a:defRPr>
            </a:lvl1pPr>
          </a:lstStyle>
          <a:p>
            <a:pPr fontAlgn="base"/>
            <a:r>
              <a:rPr lang="zh-CN" altLang="en-US" sz="2665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5321576" y="3429179"/>
            <a:ext cx="2649169" cy="294302"/>
          </a:xfrm>
          <a:prstGeom prst="rect">
            <a:avLst/>
          </a:prstGeom>
        </p:spPr>
        <p:txBody>
          <a:bodyPr wrap="none" lIns="72000" tIns="36000" rIns="72000" bIns="36000">
            <a:spAutoFit/>
          </a:bodyPr>
          <a:lstStyle>
            <a:lvl1pPr marL="0" indent="0">
              <a:buNone/>
              <a:defRPr sz="1600" spc="27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kumimoji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kumimoji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kumimoji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*</a:t>
            </a:r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A1750-DDF9-4AA4-9197-3F6CDE30377E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D38D59-9140-4B24-9BD8-BA2512FA838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153775" y="470759"/>
            <a:ext cx="499745" cy="356328"/>
          </a:xfrm>
        </p:spPr>
        <p:txBody>
          <a:bodyPr/>
          <a:lstStyle/>
          <a:p>
            <a:pPr algn="ctr" eaLnBrk="1" fontAlgn="base" hangingPunct="1"/>
            <a:r>
              <a:rPr lang="en-US" altLang="zh-CN" sz="13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endParaRPr lang="en-US" altLang="zh-CN" sz="13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1142999" y="471117"/>
            <a:ext cx="9715500" cy="378565"/>
          </a:xfrm>
        </p:spPr>
        <p:txBody>
          <a:bodyPr lIns="0" tIns="0"/>
          <a:lstStyle/>
          <a:p>
            <a:r>
              <a:rPr lang="zh-CN" altLang="en-US">
                <a:solidFill>
                  <a:srgbClr val="252A30"/>
                </a:solidFill>
                <a:latin typeface="微软雅黑" panose="020B0503020204020204" pitchFamily="34" charset="-122"/>
              </a:rPr>
              <a:t>四边测光逻辑：五区划分与亮度统计</a:t>
            </a:r>
            <a:endParaRPr lang="ko-KR" altLang="en-US">
              <a:solidFill>
                <a:srgbClr val="252A3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分区标题"/>
          <p:cNvSpPr txBox="1"/>
          <p:nvPr/>
        </p:nvSpPr>
        <p:spPr>
          <a:xfrm>
            <a:off x="698500" y="1130299"/>
            <a:ext cx="42545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zh-CN" sz="1600" b="1">
                <a:solidFill>
                  <a:srgbClr val="F15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  </a:t>
            </a:r>
            <a:r>
              <a:rPr lang="zh-CN" altLang="en-US" sz="1600" b="1">
                <a:solidFill>
                  <a:srgbClr val="F15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五区划分：面积不等于权重</a:t>
            </a:r>
          </a:p>
        </p:txBody>
      </p:sp>
      <p:sp>
        <p:nvSpPr>
          <p:cNvPr id="4" name="统计标题"/>
          <p:cNvSpPr txBox="1"/>
          <p:nvPr/>
        </p:nvSpPr>
        <p:spPr>
          <a:xfrm>
            <a:off x="6553200" y="1124584"/>
            <a:ext cx="62484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zh-CN" sz="1600" b="1">
                <a:solidFill>
                  <a:srgbClr val="F15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  </a:t>
            </a:r>
            <a:r>
              <a:rPr lang="zh-CN" altLang="en-US" sz="1600" b="1">
                <a:solidFill>
                  <a:srgbClr val="F15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从原始分析帧得到决策指标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6127750" y="1364615"/>
            <a:ext cx="0" cy="4102100"/>
          </a:xfrm>
          <a:prstGeom prst="line">
            <a:avLst/>
          </a:prstGeom>
          <a:ln w="7620">
            <a:solidFill>
              <a:srgbClr val="D8DD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上区"/>
          <p:cNvSpPr>
            <a:spLocks/>
          </p:cNvSpPr>
          <p:nvPr/>
        </p:nvSpPr>
        <p:spPr>
          <a:xfrm>
            <a:off x="825500" y="1600200"/>
            <a:ext cx="2286001" cy="1422401"/>
          </a:xfrm>
          <a:custGeom>
            <a:avLst/>
            <a:gdLst/>
            <a:ahLst/>
            <a:cxnLst/>
            <a:rect l="0" t="0" r="0" b="0"/>
            <a:pathLst>
              <a:path w="4064001" h="933451">
                <a:moveTo>
                  <a:pt x="0" y="0"/>
                </a:moveTo>
                <a:lnTo>
                  <a:pt x="4064000" y="0"/>
                </a:lnTo>
                <a:lnTo>
                  <a:pt x="2641600" y="933450"/>
                </a:lnTo>
                <a:lnTo>
                  <a:pt x="1422400" y="933450"/>
                </a:lnTo>
                <a:close/>
              </a:path>
            </a:pathLst>
          </a:custGeom>
          <a:solidFill>
            <a:srgbClr val="FBE4D7"/>
          </a:solidFill>
          <a:ln w="1651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右区"/>
          <p:cNvSpPr>
            <a:spLocks/>
          </p:cNvSpPr>
          <p:nvPr/>
        </p:nvSpPr>
        <p:spPr>
          <a:xfrm>
            <a:off x="2311400" y="1600200"/>
            <a:ext cx="800101" cy="4064002"/>
          </a:xfrm>
          <a:custGeom>
            <a:avLst/>
            <a:gdLst/>
            <a:ahLst/>
            <a:cxnLst/>
            <a:rect l="0" t="0" r="0" b="0"/>
            <a:pathLst>
              <a:path w="1422401" h="2667001">
                <a:moveTo>
                  <a:pt x="1422400" y="0"/>
                </a:moveTo>
                <a:lnTo>
                  <a:pt x="1422400" y="2667000"/>
                </a:lnTo>
                <a:lnTo>
                  <a:pt x="0" y="1733550"/>
                </a:lnTo>
                <a:lnTo>
                  <a:pt x="0" y="933450"/>
                </a:lnTo>
                <a:close/>
              </a:path>
            </a:pathLst>
          </a:custGeom>
          <a:solidFill>
            <a:srgbClr val="EEF1F3"/>
          </a:solidFill>
          <a:ln w="1651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下区"/>
          <p:cNvSpPr>
            <a:spLocks/>
          </p:cNvSpPr>
          <p:nvPr/>
        </p:nvSpPr>
        <p:spPr>
          <a:xfrm>
            <a:off x="825500" y="4241800"/>
            <a:ext cx="2286001" cy="1422401"/>
          </a:xfrm>
          <a:custGeom>
            <a:avLst/>
            <a:gdLst/>
            <a:ahLst/>
            <a:cxnLst/>
            <a:rect l="0" t="0" r="0" b="0"/>
            <a:pathLst>
              <a:path w="4064001" h="933451">
                <a:moveTo>
                  <a:pt x="4064000" y="933450"/>
                </a:moveTo>
                <a:lnTo>
                  <a:pt x="0" y="933450"/>
                </a:lnTo>
                <a:lnTo>
                  <a:pt x="1422400" y="0"/>
                </a:lnTo>
                <a:lnTo>
                  <a:pt x="2641600" y="0"/>
                </a:lnTo>
                <a:close/>
              </a:path>
            </a:pathLst>
          </a:custGeom>
          <a:solidFill>
            <a:srgbClr val="FAEDE4"/>
          </a:solidFill>
          <a:ln w="1651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左区"/>
          <p:cNvSpPr>
            <a:spLocks/>
          </p:cNvSpPr>
          <p:nvPr/>
        </p:nvSpPr>
        <p:spPr>
          <a:xfrm>
            <a:off x="825500" y="1600200"/>
            <a:ext cx="800101" cy="4064002"/>
          </a:xfrm>
          <a:custGeom>
            <a:avLst/>
            <a:gdLst/>
            <a:ahLst/>
            <a:cxnLst/>
            <a:rect l="0" t="0" r="0" b="0"/>
            <a:pathLst>
              <a:path w="1422401" h="2667001">
                <a:moveTo>
                  <a:pt x="0" y="2667000"/>
                </a:moveTo>
                <a:lnTo>
                  <a:pt x="0" y="0"/>
                </a:lnTo>
                <a:lnTo>
                  <a:pt x="1422400" y="933450"/>
                </a:lnTo>
                <a:lnTo>
                  <a:pt x="1422400" y="1733550"/>
                </a:lnTo>
                <a:close/>
              </a:path>
            </a:pathLst>
          </a:custGeom>
          <a:solidFill>
            <a:srgbClr val="E6ECEF"/>
          </a:solidFill>
          <a:ln w="1651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中心区"/>
          <p:cNvSpPr>
            <a:spLocks/>
          </p:cNvSpPr>
          <p:nvPr/>
        </p:nvSpPr>
        <p:spPr>
          <a:xfrm>
            <a:off x="1625600" y="3022600"/>
            <a:ext cx="685801" cy="1219202"/>
          </a:xfrm>
          <a:custGeom>
            <a:avLst/>
            <a:gdLst/>
            <a:ahLst/>
            <a:cxnLst/>
            <a:rect l="0" t="0" r="0" b="0"/>
            <a:pathLst>
              <a:path w="1219201" h="800101">
                <a:moveTo>
                  <a:pt x="0" y="0"/>
                </a:moveTo>
                <a:lnTo>
                  <a:pt x="1219200" y="0"/>
                </a:lnTo>
                <a:lnTo>
                  <a:pt x="1219200" y="800100"/>
                </a:lnTo>
                <a:lnTo>
                  <a:pt x="0" y="800100"/>
                </a:lnTo>
                <a:close/>
              </a:path>
            </a:pathLst>
          </a:custGeom>
          <a:solidFill>
            <a:srgbClr val="F15A0A"/>
          </a:solidFill>
          <a:ln w="1651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上区读数"/>
          <p:cNvSpPr txBox="1"/>
          <p:nvPr/>
        </p:nvSpPr>
        <p:spPr>
          <a:xfrm>
            <a:off x="1181100" y="1892300"/>
            <a:ext cx="1574800" cy="673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altLang="en-US" sz="110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</a:t>
            </a:r>
          </a:p>
          <a:p>
            <a:pPr algn="ctr">
              <a:lnSpc>
                <a:spcPct val="105000"/>
              </a:lnSpc>
            </a:pPr>
            <a:r>
              <a:rPr lang="zh-CN" altLang="en-US" sz="110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面积 </a:t>
            </a:r>
            <a:r>
              <a:rPr lang="en-US" altLang="zh-CN" sz="110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22.75%</a:t>
            </a:r>
          </a:p>
          <a:p>
            <a:pPr algn="ctr">
              <a:lnSpc>
                <a:spcPct val="105000"/>
              </a:lnSpc>
            </a:pPr>
            <a:r>
              <a:rPr lang="zh-CN" altLang="en-US" sz="110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权重 </a:t>
            </a:r>
            <a:r>
              <a:rPr lang="en-US" altLang="zh-CN" sz="110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15%</a:t>
            </a:r>
            <a:endParaRPr lang="zh-CN" altLang="en-US" sz="1100" b="1">
              <a:solidFill>
                <a:srgbClr val="252A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下区读数"/>
          <p:cNvSpPr txBox="1"/>
          <p:nvPr/>
        </p:nvSpPr>
        <p:spPr>
          <a:xfrm>
            <a:off x="1181100" y="4813300"/>
            <a:ext cx="1574800" cy="673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altLang="en-US" sz="110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</a:t>
            </a:r>
          </a:p>
          <a:p>
            <a:pPr algn="ctr">
              <a:lnSpc>
                <a:spcPct val="105000"/>
              </a:lnSpc>
            </a:pPr>
            <a:r>
              <a:rPr lang="zh-CN" altLang="en-US" sz="110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面积 </a:t>
            </a:r>
            <a:r>
              <a:rPr lang="en-US" altLang="zh-CN" sz="110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22.75%</a:t>
            </a:r>
          </a:p>
          <a:p>
            <a:pPr algn="ctr">
              <a:lnSpc>
                <a:spcPct val="105000"/>
              </a:lnSpc>
            </a:pPr>
            <a:r>
              <a:rPr lang="zh-CN" altLang="en-US" sz="110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权重 </a:t>
            </a:r>
            <a:r>
              <a:rPr lang="en-US" altLang="zh-CN" sz="110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15%</a:t>
            </a:r>
            <a:endParaRPr lang="zh-CN" altLang="en-US" sz="1100" b="1">
              <a:solidFill>
                <a:srgbClr val="252A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左区读数"/>
          <p:cNvSpPr txBox="1"/>
          <p:nvPr/>
        </p:nvSpPr>
        <p:spPr>
          <a:xfrm>
            <a:off x="850900" y="3302000"/>
            <a:ext cx="749300" cy="647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altLang="en-US" sz="9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</a:t>
            </a:r>
          </a:p>
          <a:p>
            <a:pPr algn="ctr">
              <a:lnSpc>
                <a:spcPct val="105000"/>
              </a:lnSpc>
            </a:pPr>
            <a:r>
              <a:rPr lang="zh-CN" altLang="en-US" sz="9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面积</a:t>
            </a:r>
            <a:r>
              <a:rPr lang="en-US" altLang="zh-CN" sz="9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22.75%</a:t>
            </a:r>
          </a:p>
          <a:p>
            <a:pPr algn="ctr">
              <a:lnSpc>
                <a:spcPct val="105000"/>
              </a:lnSpc>
            </a:pPr>
            <a:r>
              <a:rPr lang="zh-CN" altLang="en-US" sz="9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权重</a:t>
            </a:r>
            <a:r>
              <a:rPr lang="en-US" altLang="zh-CN" sz="9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15%</a:t>
            </a:r>
            <a:endParaRPr lang="zh-CN" altLang="en-US" sz="950">
              <a:solidFill>
                <a:srgbClr val="252A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右区读数"/>
          <p:cNvSpPr txBox="1"/>
          <p:nvPr/>
        </p:nvSpPr>
        <p:spPr>
          <a:xfrm>
            <a:off x="2336800" y="3302000"/>
            <a:ext cx="749300" cy="647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altLang="en-US" sz="9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右</a:t>
            </a:r>
          </a:p>
          <a:p>
            <a:pPr algn="ctr">
              <a:lnSpc>
                <a:spcPct val="105000"/>
              </a:lnSpc>
            </a:pPr>
            <a:r>
              <a:rPr lang="zh-CN" altLang="en-US" sz="9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面积</a:t>
            </a:r>
            <a:r>
              <a:rPr lang="en-US" altLang="zh-CN" sz="9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22.75%</a:t>
            </a:r>
          </a:p>
          <a:p>
            <a:pPr algn="ctr">
              <a:lnSpc>
                <a:spcPct val="105000"/>
              </a:lnSpc>
            </a:pPr>
            <a:r>
              <a:rPr lang="zh-CN" altLang="en-US" sz="9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权重</a:t>
            </a:r>
            <a:r>
              <a:rPr lang="en-US" altLang="zh-CN" sz="9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15%</a:t>
            </a:r>
            <a:endParaRPr lang="zh-CN" altLang="en-US" sz="950">
              <a:solidFill>
                <a:srgbClr val="252A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中心读数"/>
          <p:cNvSpPr txBox="1"/>
          <p:nvPr/>
        </p:nvSpPr>
        <p:spPr>
          <a:xfrm>
            <a:off x="1651000" y="3302000"/>
            <a:ext cx="635000" cy="647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altLang="en-US" sz="1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中心</a:t>
            </a:r>
          </a:p>
          <a:p>
            <a:pPr algn="ctr">
              <a:lnSpc>
                <a:spcPct val="105000"/>
              </a:lnSpc>
            </a:pPr>
            <a:r>
              <a:rPr lang="zh-CN" altLang="en-US" sz="1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面积</a:t>
            </a:r>
            <a:r>
              <a:rPr lang="en-US" altLang="zh-CN" sz="1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9%</a:t>
            </a:r>
          </a:p>
          <a:p>
            <a:pPr algn="ctr">
              <a:lnSpc>
                <a:spcPct val="105000"/>
              </a:lnSpc>
            </a:pPr>
            <a:r>
              <a:rPr lang="zh-CN" altLang="en-US" sz="1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权重</a:t>
            </a:r>
            <a:r>
              <a:rPr lang="en-US" altLang="zh-CN" sz="1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40%</a:t>
            </a:r>
            <a:endParaRPr lang="zh-CN" altLang="en-US" sz="10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面积公式"/>
          <p:cNvSpPr txBox="1"/>
          <p:nvPr/>
        </p:nvSpPr>
        <p:spPr>
          <a:xfrm>
            <a:off x="3403600" y="2019300"/>
            <a:ext cx="2552700" cy="304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120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示意图宽</a:t>
            </a:r>
            <a:r>
              <a:rPr lang="en-US" altLang="zh-CN" sz="120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20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 </a:t>
            </a:r>
            <a:r>
              <a:rPr lang="en-US" altLang="zh-CN" sz="120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9:16</a:t>
            </a:r>
          </a:p>
          <a:p>
            <a:pPr>
              <a:lnSpc>
                <a:spcPct val="105000"/>
              </a:lnSpc>
            </a:pPr>
            <a:endParaRPr lang="en-US" altLang="zh-CN" sz="1200">
              <a:solidFill>
                <a:srgbClr val="252A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120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中心面积</a:t>
            </a:r>
          </a:p>
          <a:p>
            <a:pPr>
              <a:lnSpc>
                <a:spcPct val="105000"/>
              </a:lnSpc>
            </a:pPr>
            <a:r>
              <a:rPr lang="en-US" altLang="zh-CN" sz="120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0.3W × 0.3H = 9%WH</a:t>
            </a:r>
          </a:p>
          <a:p>
            <a:pPr>
              <a:lnSpc>
                <a:spcPct val="105000"/>
              </a:lnSpc>
            </a:pPr>
            <a:endParaRPr lang="en-US" altLang="zh-CN" sz="1200">
              <a:solidFill>
                <a:srgbClr val="252A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120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上区面积</a:t>
            </a:r>
          </a:p>
          <a:p>
            <a:pPr>
              <a:lnSpc>
                <a:spcPct val="105000"/>
              </a:lnSpc>
            </a:pPr>
            <a:r>
              <a:rPr lang="en-US" altLang="zh-CN" sz="120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(W + 0.3W) × 0.35H ÷ 2</a:t>
            </a:r>
          </a:p>
          <a:p>
            <a:pPr>
              <a:lnSpc>
                <a:spcPct val="105000"/>
              </a:lnSpc>
            </a:pPr>
            <a:r>
              <a:rPr lang="en-US" altLang="zh-CN" sz="120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22.75%WH</a:t>
            </a:r>
          </a:p>
          <a:p>
            <a:pPr>
              <a:lnSpc>
                <a:spcPct val="105000"/>
              </a:lnSpc>
            </a:pPr>
            <a:endParaRPr lang="en-US" altLang="zh-CN" sz="1200">
              <a:solidFill>
                <a:srgbClr val="252A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120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其余三边同面积。</a:t>
            </a:r>
          </a:p>
          <a:p>
            <a:pPr>
              <a:lnSpc>
                <a:spcPct val="105000"/>
              </a:lnSpc>
            </a:pPr>
            <a:r>
              <a:rPr lang="zh-CN" altLang="en-US" sz="120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面积占比与权重保持不变。</a:t>
            </a:r>
          </a:p>
        </p:txBody>
      </p:sp>
      <p:sp>
        <p:nvSpPr>
          <p:cNvPr id="18" name="方向注记"/>
          <p:cNvSpPr txBox="1"/>
          <p:nvPr/>
        </p:nvSpPr>
        <p:spPr>
          <a:xfrm>
            <a:off x="762000" y="5676900"/>
            <a:ext cx="5207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1080">
                <a:solidFill>
                  <a:srgbClr val="626B7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分区互不重叠；随传感器方向旋转标签。</a:t>
            </a:r>
          </a:p>
        </p:txBody>
      </p:sp>
      <p:sp>
        <p:nvSpPr>
          <p:cNvPr id="19" name="采样小标题"/>
          <p:cNvSpPr txBox="1"/>
          <p:nvPr/>
        </p:nvSpPr>
        <p:spPr>
          <a:xfrm>
            <a:off x="6553200" y="1556384"/>
            <a:ext cx="6223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140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每区先统计，再计算截尾均值 </a:t>
            </a:r>
            <a:r>
              <a:rPr lang="en-US" altLang="zh-CN" sz="140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</a:t>
            </a:r>
            <a:endParaRPr lang="zh-CN" altLang="en-US" sz="1400" b="1">
              <a:solidFill>
                <a:srgbClr val="252A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采样内容"/>
          <p:cNvSpPr txBox="1"/>
          <p:nvPr/>
        </p:nvSpPr>
        <p:spPr>
          <a:xfrm>
            <a:off x="6553200" y="1861184"/>
            <a:ext cx="6223000" cy="63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采样间隔 ≥</a:t>
            </a:r>
            <a:r>
              <a:rPr lang="en-US" altLang="zh-CN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500 ms</a:t>
            </a:r>
            <a:r>
              <a:rPr lang="zh-CN" altLang="en-US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，网格最多 </a:t>
            </a:r>
            <a:r>
              <a:rPr lang="en-US" altLang="zh-CN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 × 48 = 3072 </a:t>
            </a:r>
            <a:r>
              <a:rPr lang="zh-CN" altLang="en-US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点。</a:t>
            </a:r>
          </a:p>
          <a:p>
            <a:pPr>
              <a:lnSpc>
                <a:spcPct val="105000"/>
              </a:lnSpc>
            </a:pPr>
            <a:r>
              <a:rPr lang="zh-CN" altLang="en-US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读取 </a:t>
            </a:r>
            <a:r>
              <a:rPr lang="en-US" altLang="zh-CN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SDR YUV </a:t>
            </a:r>
            <a:r>
              <a:rPr lang="zh-CN" altLang="en-US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-US" altLang="zh-CN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 </a:t>
            </a:r>
            <a:r>
              <a:rPr lang="zh-CN" altLang="en-US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平面；每区剔除最暗、最亮各</a:t>
            </a:r>
          </a:p>
          <a:p>
            <a:pPr>
              <a:lnSpc>
                <a:spcPct val="105000"/>
              </a:lnSpc>
            </a:pPr>
            <a:r>
              <a:rPr lang="en-US" altLang="zh-CN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floor(5% × </a:t>
            </a:r>
            <a:r>
              <a:rPr lang="zh-CN" altLang="en-US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该区点数</a:t>
            </a:r>
            <a:r>
              <a:rPr lang="en-US" altLang="zh-CN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zh-CN" altLang="en-US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个点，再求剩余点的平均值。</a:t>
            </a:r>
          </a:p>
        </p:txBody>
      </p:sp>
      <p:sp>
        <p:nvSpPr>
          <p:cNvPr id="21" name="综合小标题"/>
          <p:cNvSpPr txBox="1"/>
          <p:nvPr/>
        </p:nvSpPr>
        <p:spPr>
          <a:xfrm>
            <a:off x="6553200" y="2572384"/>
            <a:ext cx="6223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140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综合亮度 </a:t>
            </a:r>
            <a:r>
              <a:rPr lang="en-US" altLang="zh-CN" sz="140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zh-CN" altLang="en-US" sz="140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：固定权重的几何平均</a:t>
            </a:r>
          </a:p>
        </p:txBody>
      </p:sp>
      <p:sp>
        <p:nvSpPr>
          <p:cNvPr id="22" name="综合公式"/>
          <p:cNvSpPr txBox="1"/>
          <p:nvPr/>
        </p:nvSpPr>
        <p:spPr>
          <a:xfrm>
            <a:off x="6553200" y="2889884"/>
            <a:ext cx="62230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zh-CN" sz="1400" b="1">
                <a:solidFill>
                  <a:srgbClr val="F15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 = exp[0.4 ln(max(M</a:t>
            </a:r>
            <a:r>
              <a:rPr lang="zh-CN" altLang="en-US" sz="1400" b="1">
                <a:solidFill>
                  <a:srgbClr val="F15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en-US" altLang="zh-CN" sz="1400" b="1">
                <a:solidFill>
                  <a:srgbClr val="F15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1))</a:t>
            </a:r>
          </a:p>
          <a:p>
            <a:pPr>
              <a:lnSpc>
                <a:spcPct val="105000"/>
              </a:lnSpc>
            </a:pPr>
            <a:r>
              <a:rPr lang="en-US" altLang="zh-CN" sz="1400" b="1">
                <a:solidFill>
                  <a:srgbClr val="F15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+ 0.15 </a:t>
            </a:r>
            <a:r>
              <a:rPr lang="el-GR" altLang="zh-CN" sz="1400" b="1">
                <a:solidFill>
                  <a:srgbClr val="F15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Σ</a:t>
            </a:r>
            <a:r>
              <a:rPr lang="zh-CN" altLang="en-US" sz="1400" b="1">
                <a:solidFill>
                  <a:srgbClr val="F15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四边 </a:t>
            </a:r>
            <a:r>
              <a:rPr lang="en-US" altLang="zh-CN" sz="1400" b="1">
                <a:solidFill>
                  <a:srgbClr val="F15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ln(max(Mi, 1))]</a:t>
            </a:r>
            <a:endParaRPr lang="zh-CN" altLang="en-US" sz="1400" b="1">
              <a:solidFill>
                <a:srgbClr val="F15A0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综合解释"/>
          <p:cNvSpPr txBox="1"/>
          <p:nvPr/>
        </p:nvSpPr>
        <p:spPr>
          <a:xfrm>
            <a:off x="6553200" y="3474085"/>
            <a:ext cx="6223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1200">
                <a:solidFill>
                  <a:srgbClr val="626B7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不再乘区域面积，减弱单个极亮天空区域的支配。</a:t>
            </a:r>
          </a:p>
        </p:txBody>
      </p:sp>
      <p:sp>
        <p:nvSpPr>
          <p:cNvPr id="24" name="百分位小标题"/>
          <p:cNvSpPr txBox="1"/>
          <p:nvPr/>
        </p:nvSpPr>
        <p:spPr>
          <a:xfrm>
            <a:off x="6553200" y="3816984"/>
            <a:ext cx="6223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140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</a:t>
            </a:r>
            <a:r>
              <a:rPr lang="en-US" altLang="zh-CN" sz="140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P20 / P99</a:t>
            </a:r>
            <a:r>
              <a:rPr lang="zh-CN" altLang="en-US" sz="140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：从未截尾的采样直方图取值</a:t>
            </a:r>
          </a:p>
        </p:txBody>
      </p:sp>
      <p:sp>
        <p:nvSpPr>
          <p:cNvPr id="25" name="百分位解释"/>
          <p:cNvSpPr txBox="1"/>
          <p:nvPr/>
        </p:nvSpPr>
        <p:spPr>
          <a:xfrm>
            <a:off x="6553200" y="4121784"/>
            <a:ext cx="6223000" cy="495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zh-CN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P20</a:t>
            </a:r>
            <a:r>
              <a:rPr lang="zh-CN" altLang="en-US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：中心第 </a:t>
            </a:r>
            <a:r>
              <a:rPr lang="en-US" altLang="zh-CN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 </a:t>
            </a:r>
            <a:r>
              <a:rPr lang="zh-CN" altLang="en-US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百分位亮度，用于中心暗部保护。</a:t>
            </a:r>
          </a:p>
          <a:p>
            <a:pPr>
              <a:lnSpc>
                <a:spcPct val="105000"/>
              </a:lnSpc>
            </a:pPr>
            <a:r>
              <a:rPr lang="en-US" altLang="zh-CN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P99</a:t>
            </a:r>
            <a:r>
              <a:rPr lang="zh-CN" altLang="en-US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：全图采样的第 </a:t>
            </a:r>
            <a:r>
              <a:rPr lang="en-US" altLang="zh-CN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99 </a:t>
            </a:r>
            <a:r>
              <a:rPr lang="zh-CN" altLang="en-US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百分位亮度，用于回升余量判断。</a:t>
            </a:r>
          </a:p>
        </p:txBody>
      </p:sp>
      <p:sp>
        <p:nvSpPr>
          <p:cNvPr id="26" name="高亮小标题"/>
          <p:cNvSpPr txBox="1"/>
          <p:nvPr/>
        </p:nvSpPr>
        <p:spPr>
          <a:xfrm>
            <a:off x="6553200" y="4705984"/>
            <a:ext cx="6223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140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 </a:t>
            </a:r>
            <a:r>
              <a:rPr lang="en-US" altLang="zh-CN" sz="140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sz="140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：大范围高亮风险，不是真实饱和判定</a:t>
            </a:r>
          </a:p>
        </p:txBody>
      </p:sp>
      <p:sp>
        <p:nvSpPr>
          <p:cNvPr id="27" name="高亮解释"/>
          <p:cNvSpPr txBox="1"/>
          <p:nvPr/>
        </p:nvSpPr>
        <p:spPr>
          <a:xfrm>
            <a:off x="6553200" y="5010784"/>
            <a:ext cx="6223000" cy="63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每区 </a:t>
            </a:r>
            <a:r>
              <a:rPr lang="en-US" altLang="zh-CN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qi = Y ≥ 235 </a:t>
            </a:r>
            <a:r>
              <a:rPr lang="zh-CN" altLang="en-US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的点数 </a:t>
            </a:r>
            <a:r>
              <a:rPr lang="en-US" altLang="zh-CN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该区总点数（不截尾）。</a:t>
            </a:r>
          </a:p>
          <a:p>
            <a:pPr>
              <a:lnSpc>
                <a:spcPct val="105000"/>
              </a:lnSpc>
            </a:pPr>
            <a:r>
              <a:rPr lang="en-US" altLang="zh-CN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 </a:t>
            </a:r>
            <a:r>
              <a:rPr lang="zh-CN" altLang="en-US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成立：</a:t>
            </a:r>
            <a:r>
              <a:rPr lang="en-US" altLang="zh-CN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0.4q</a:t>
            </a:r>
            <a:r>
              <a:rPr lang="zh-CN" altLang="en-US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 </a:t>
            </a:r>
            <a:r>
              <a:rPr lang="en-US" altLang="zh-CN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+ 0.15Σ</a:t>
            </a:r>
            <a:r>
              <a:rPr lang="zh-CN" altLang="en-US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四边</a:t>
            </a:r>
            <a:r>
              <a:rPr lang="en-US" altLang="zh-CN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qi ≥ 35%</a:t>
            </a:r>
            <a:r>
              <a:rPr lang="zh-CN" altLang="en-US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</a:p>
          <a:p>
            <a:pPr>
              <a:lnSpc>
                <a:spcPct val="105000"/>
              </a:lnSpc>
            </a:pPr>
            <a:r>
              <a:rPr lang="zh-CN" altLang="en-US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或五区中至少三区各有 </a:t>
            </a:r>
            <a:r>
              <a:rPr lang="en-US" altLang="zh-CN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qi ≥ 25%</a:t>
            </a:r>
            <a:r>
              <a:rPr lang="zh-CN" altLang="en-US" sz="125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8" name="矩形 27"/>
          <p:cNvSpPr/>
          <p:nvPr/>
        </p:nvSpPr>
        <p:spPr>
          <a:xfrm>
            <a:off x="698500" y="5892800"/>
            <a:ext cx="10858500" cy="520700"/>
          </a:xfrm>
          <a:prstGeom prst="rect">
            <a:avLst/>
          </a:prstGeom>
          <a:solidFill>
            <a:srgbClr val="FFF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统计边界"/>
          <p:cNvSpPr txBox="1"/>
          <p:nvPr/>
        </p:nvSpPr>
        <p:spPr>
          <a:xfrm>
            <a:off x="850900" y="5981699"/>
            <a:ext cx="105537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113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读数是 </a:t>
            </a:r>
            <a:r>
              <a:rPr lang="en-US" altLang="zh-CN" sz="113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13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113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255 </a:t>
            </a:r>
            <a:r>
              <a:rPr lang="zh-CN" altLang="en-US" sz="113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的图像亮度编码值，不是 </a:t>
            </a:r>
            <a:r>
              <a:rPr lang="en-US" altLang="zh-CN" sz="113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lux</a:t>
            </a:r>
            <a:r>
              <a:rPr lang="zh-CN" altLang="en-US" sz="113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13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RAW </a:t>
            </a:r>
            <a:r>
              <a:rPr lang="zh-CN" altLang="en-US" sz="113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饱和率或 </a:t>
            </a:r>
            <a:r>
              <a:rPr lang="en-US" altLang="zh-CN" sz="113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HLG </a:t>
            </a:r>
            <a:r>
              <a:rPr lang="zh-CN" altLang="en-US" sz="113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物理亮度。</a:t>
            </a:r>
          </a:p>
          <a:p>
            <a:pPr>
              <a:lnSpc>
                <a:spcPct val="105000"/>
              </a:lnSpc>
            </a:pPr>
            <a:r>
              <a:rPr lang="zh-CN" altLang="en-US" sz="113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中心只按位置划定，不识别旗杆；面积比例为连续几何值，实际采样点数存在取整差异。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061575" y="521559"/>
            <a:ext cx="499745" cy="356328"/>
          </a:xfrm>
        </p:spPr>
        <p:txBody>
          <a:bodyPr/>
          <a:lstStyle/>
          <a:p>
            <a:pPr algn="ctr" eaLnBrk="1" fontAlgn="base" hangingPunct="1"/>
            <a:r>
              <a:rPr lang="en-US" altLang="zh-CN" sz="13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endParaRPr lang="en-US" altLang="zh-CN" sz="13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1142999" y="471117"/>
            <a:ext cx="9715500" cy="378565"/>
          </a:xfrm>
        </p:spPr>
        <p:txBody>
          <a:bodyPr lIns="0" tIns="0"/>
          <a:lstStyle/>
          <a:p>
            <a:r>
              <a:rPr lang="zh-CN" altLang="en-US">
                <a:solidFill>
                  <a:srgbClr val="252A30"/>
                </a:solidFill>
                <a:latin typeface="微软雅黑" panose="020B0503020204020204" pitchFamily="34" charset="-122"/>
              </a:rPr>
              <a:t>四边测光逻辑：</a:t>
            </a:r>
            <a:r>
              <a:rPr lang="en-US" altLang="zh-CN">
                <a:solidFill>
                  <a:srgbClr val="252A30"/>
                </a:solidFill>
                <a:latin typeface="微软雅黑" panose="020B0503020204020204" pitchFamily="34" charset="-122"/>
              </a:rPr>
              <a:t>EV </a:t>
            </a:r>
            <a:r>
              <a:rPr lang="zh-CN" altLang="en-US">
                <a:solidFill>
                  <a:srgbClr val="252A30"/>
                </a:solidFill>
                <a:latin typeface="微软雅黑" panose="020B0503020204020204" pitchFamily="34" charset="-122"/>
              </a:rPr>
              <a:t>决策与保护机制</a:t>
            </a:r>
            <a:endParaRPr lang="ko-KR" altLang="en-US">
              <a:solidFill>
                <a:srgbClr val="252A3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决策标题"/>
          <p:cNvSpPr txBox="1"/>
          <p:nvPr/>
        </p:nvSpPr>
        <p:spPr>
          <a:xfrm>
            <a:off x="698500" y="1130299"/>
            <a:ext cx="65151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zh-CN" sz="1600" b="1">
                <a:solidFill>
                  <a:srgbClr val="F15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  </a:t>
            </a:r>
            <a:r>
              <a:rPr lang="zh-CN" altLang="en-US" sz="1600" b="1">
                <a:solidFill>
                  <a:srgbClr val="F15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按优先级决策：首条命中即停止</a:t>
            </a:r>
          </a:p>
        </p:txBody>
      </p:sp>
      <p:sp>
        <p:nvSpPr>
          <p:cNvPr id="4" name="执行标题"/>
          <p:cNvSpPr txBox="1"/>
          <p:nvPr/>
        </p:nvSpPr>
        <p:spPr>
          <a:xfrm>
            <a:off x="6574155" y="1130299"/>
            <a:ext cx="40767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zh-CN" sz="1600" b="1">
                <a:solidFill>
                  <a:srgbClr val="F15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 </a:t>
            </a:r>
            <a:r>
              <a:rPr lang="zh-CN" altLang="en-US" sz="1600" b="1">
                <a:solidFill>
                  <a:srgbClr val="F15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小步执行、等待反馈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6141085" y="1587500"/>
            <a:ext cx="0" cy="4216400"/>
          </a:xfrm>
          <a:prstGeom prst="line">
            <a:avLst/>
          </a:prstGeom>
          <a:ln w="7620">
            <a:solidFill>
              <a:srgbClr val="D8DD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误差定义"/>
          <p:cNvSpPr txBox="1"/>
          <p:nvPr/>
        </p:nvSpPr>
        <p:spPr>
          <a:xfrm>
            <a:off x="698500" y="1536699"/>
            <a:ext cx="63627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zh-CN" sz="121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 = log₂(112 / G)</a:t>
            </a:r>
            <a:r>
              <a:rPr lang="zh-CN" altLang="en-US" sz="121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；死区 </a:t>
            </a:r>
            <a:r>
              <a:rPr lang="en-US" altLang="zh-CN" sz="121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 = max(0.35, 0.6Δ)</a:t>
            </a:r>
          </a:p>
          <a:p>
            <a:pPr>
              <a:lnSpc>
                <a:spcPct val="105000"/>
              </a:lnSpc>
            </a:pPr>
            <a:r>
              <a:rPr lang="en-US" altLang="zh-CN" sz="121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112 </a:t>
            </a:r>
            <a:r>
              <a:rPr lang="zh-CN" altLang="en-US" sz="121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是经验目标；</a:t>
            </a:r>
            <a:r>
              <a:rPr lang="en-US" altLang="zh-CN" sz="121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 </a:t>
            </a:r>
            <a:r>
              <a:rPr lang="zh-CN" altLang="en-US" sz="121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是编码亮度误差，不是物理 </a:t>
            </a:r>
            <a:r>
              <a:rPr lang="en-US" altLang="zh-CN" sz="121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</a:t>
            </a:r>
            <a:r>
              <a:rPr lang="zh-CN" altLang="en-US" sz="121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8" name="矩形 7"/>
          <p:cNvSpPr/>
          <p:nvPr/>
        </p:nvSpPr>
        <p:spPr>
          <a:xfrm>
            <a:off x="698500" y="2075180"/>
            <a:ext cx="5143500" cy="731520"/>
          </a:xfrm>
          <a:prstGeom prst="rect">
            <a:avLst/>
          </a:prstGeom>
          <a:solidFill>
            <a:srgbClr val="FFF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保护状态"/>
          <p:cNvSpPr txBox="1"/>
          <p:nvPr/>
        </p:nvSpPr>
        <p:spPr>
          <a:xfrm>
            <a:off x="825500" y="2184399"/>
            <a:ext cx="60325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先更新中心保护：</a:t>
            </a:r>
            <a:r>
              <a:rPr lang="en-US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P20 &lt; 64 → </a:t>
            </a: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开；</a:t>
            </a:r>
            <a:r>
              <a:rPr lang="en-US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P20 ≥ 96 → </a:t>
            </a: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关。</a:t>
            </a:r>
          </a:p>
          <a:p>
            <a:pPr>
              <a:lnSpc>
                <a:spcPct val="105000"/>
              </a:lnSpc>
            </a:pPr>
            <a:r>
              <a:rPr lang="en-US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</a:t>
            </a: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95 </a:t>
            </a: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保留原状态（初始为关）。</a:t>
            </a:r>
          </a:p>
          <a:p>
            <a:pPr>
              <a:lnSpc>
                <a:spcPct val="105000"/>
              </a:lnSpc>
            </a:pPr>
            <a:r>
              <a:rPr lang="en-US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 = </a:t>
            </a: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 </a:t>
            </a:r>
            <a:r>
              <a:rPr lang="en-US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 − </a:t>
            </a: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用户基线 </a:t>
            </a:r>
            <a:r>
              <a:rPr lang="en-US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</a:t>
            </a: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Δ = </a:t>
            </a: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每次调整的 </a:t>
            </a:r>
            <a:r>
              <a:rPr lang="en-US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</a:t>
            </a: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0" name="序号1"/>
          <p:cNvSpPr txBox="1"/>
          <p:nvPr/>
        </p:nvSpPr>
        <p:spPr>
          <a:xfrm>
            <a:off x="711200" y="2908299"/>
            <a:ext cx="3175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zh-CN" b="1">
                <a:solidFill>
                  <a:srgbClr val="F15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b="1">
              <a:solidFill>
                <a:srgbClr val="F15A0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条件1"/>
          <p:cNvSpPr txBox="1"/>
          <p:nvPr/>
        </p:nvSpPr>
        <p:spPr>
          <a:xfrm>
            <a:off x="1117600" y="2908299"/>
            <a:ext cx="58801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zh-CN" sz="125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P20 &lt; 40 </a:t>
            </a:r>
            <a:r>
              <a:rPr lang="zh-CN" altLang="en-US" sz="125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且 </a:t>
            </a:r>
            <a:r>
              <a:rPr lang="en-US" altLang="zh-CN" sz="125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 &lt; 0</a:t>
            </a:r>
            <a:endParaRPr lang="zh-CN" altLang="en-US" sz="1250" b="1">
              <a:solidFill>
                <a:srgbClr val="252A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动作1"/>
          <p:cNvSpPr txBox="1"/>
          <p:nvPr/>
        </p:nvSpPr>
        <p:spPr>
          <a:xfrm>
            <a:off x="1117600" y="3162300"/>
            <a:ext cx="58801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118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 </a:t>
            </a:r>
            <a:r>
              <a:rPr lang="el-GR" altLang="zh-CN" sz="118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Δ</a:t>
            </a:r>
            <a:r>
              <a:rPr lang="zh-CN" altLang="el-GR" sz="118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18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优先恢复暗部。</a:t>
            </a:r>
          </a:p>
        </p:txBody>
      </p:sp>
      <p:cxnSp>
        <p:nvCxnSpPr>
          <p:cNvPr id="13" name="直接连接符 12"/>
          <p:cNvCxnSpPr/>
          <p:nvPr/>
        </p:nvCxnSpPr>
        <p:spPr>
          <a:xfrm>
            <a:off x="1117600" y="3441700"/>
            <a:ext cx="5867400" cy="0"/>
          </a:xfrm>
          <a:prstGeom prst="line">
            <a:avLst/>
          </a:prstGeom>
          <a:ln w="7620">
            <a:solidFill>
              <a:srgbClr val="D8DD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序号2"/>
          <p:cNvSpPr txBox="1"/>
          <p:nvPr/>
        </p:nvSpPr>
        <p:spPr>
          <a:xfrm>
            <a:off x="711200" y="3479799"/>
            <a:ext cx="3175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zh-CN" b="1">
                <a:solidFill>
                  <a:srgbClr val="F15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b="1">
              <a:solidFill>
                <a:srgbClr val="F15A0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条件2"/>
          <p:cNvSpPr txBox="1"/>
          <p:nvPr/>
        </p:nvSpPr>
        <p:spPr>
          <a:xfrm>
            <a:off x="1117600" y="3479799"/>
            <a:ext cx="58801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zh-CN" sz="125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 &gt; d</a:t>
            </a:r>
            <a:r>
              <a:rPr lang="zh-CN" altLang="en-US" sz="125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，且（</a:t>
            </a:r>
            <a:r>
              <a:rPr lang="en-US" altLang="zh-CN" sz="125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 </a:t>
            </a:r>
            <a:r>
              <a:rPr lang="zh-CN" altLang="en-US" sz="125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成立或回升余量不足）</a:t>
            </a:r>
          </a:p>
        </p:txBody>
      </p:sp>
      <p:sp>
        <p:nvSpPr>
          <p:cNvPr id="16" name="动作2"/>
          <p:cNvSpPr txBox="1"/>
          <p:nvPr/>
        </p:nvSpPr>
        <p:spPr>
          <a:xfrm>
            <a:off x="1117600" y="3733800"/>
            <a:ext cx="58801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118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保持：反差超限 </a:t>
            </a:r>
            <a:r>
              <a:rPr lang="en-US" altLang="zh-CN" sz="118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18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保留高光余量。</a:t>
            </a:r>
          </a:p>
        </p:txBody>
      </p:sp>
      <p:cxnSp>
        <p:nvCxnSpPr>
          <p:cNvPr id="17" name="直接连接符 16"/>
          <p:cNvCxnSpPr/>
          <p:nvPr/>
        </p:nvCxnSpPr>
        <p:spPr>
          <a:xfrm>
            <a:off x="1117600" y="4013200"/>
            <a:ext cx="5867400" cy="0"/>
          </a:xfrm>
          <a:prstGeom prst="line">
            <a:avLst/>
          </a:prstGeom>
          <a:ln w="7620">
            <a:solidFill>
              <a:srgbClr val="D8DD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序号3"/>
          <p:cNvSpPr txBox="1"/>
          <p:nvPr/>
        </p:nvSpPr>
        <p:spPr>
          <a:xfrm>
            <a:off x="711200" y="4051299"/>
            <a:ext cx="3175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zh-CN" b="1">
                <a:solidFill>
                  <a:srgbClr val="F15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b="1">
              <a:solidFill>
                <a:srgbClr val="F15A0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条件3"/>
          <p:cNvSpPr txBox="1"/>
          <p:nvPr/>
        </p:nvSpPr>
        <p:spPr>
          <a:xfrm>
            <a:off x="1117600" y="4051299"/>
            <a:ext cx="58801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zh-CN" sz="125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 &gt; d</a:t>
            </a:r>
            <a:r>
              <a:rPr lang="zh-CN" altLang="en-US" sz="125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，且未达提亮上限</a:t>
            </a:r>
          </a:p>
        </p:txBody>
      </p:sp>
      <p:sp>
        <p:nvSpPr>
          <p:cNvPr id="20" name="动作3"/>
          <p:cNvSpPr txBox="1"/>
          <p:nvPr/>
        </p:nvSpPr>
        <p:spPr>
          <a:xfrm>
            <a:off x="1117600" y="4305300"/>
            <a:ext cx="58801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118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 </a:t>
            </a:r>
            <a:r>
              <a:rPr lang="en-US" altLang="zh-CN" sz="118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Δ</a:t>
            </a:r>
            <a:r>
              <a:rPr lang="zh-CN" altLang="en-US" sz="118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：分区提亮。</a:t>
            </a:r>
          </a:p>
        </p:txBody>
      </p:sp>
      <p:cxnSp>
        <p:nvCxnSpPr>
          <p:cNvPr id="21" name="直接连接符 20"/>
          <p:cNvCxnSpPr/>
          <p:nvPr/>
        </p:nvCxnSpPr>
        <p:spPr>
          <a:xfrm>
            <a:off x="1117600" y="4584700"/>
            <a:ext cx="5867400" cy="0"/>
          </a:xfrm>
          <a:prstGeom prst="line">
            <a:avLst/>
          </a:prstGeom>
          <a:ln w="7620">
            <a:solidFill>
              <a:srgbClr val="D8DD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序号4"/>
          <p:cNvSpPr txBox="1"/>
          <p:nvPr/>
        </p:nvSpPr>
        <p:spPr>
          <a:xfrm>
            <a:off x="711200" y="4622799"/>
            <a:ext cx="3175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zh-CN" b="1">
                <a:solidFill>
                  <a:srgbClr val="F15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b="1">
              <a:solidFill>
                <a:srgbClr val="F15A0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条件4"/>
          <p:cNvSpPr txBox="1"/>
          <p:nvPr/>
        </p:nvSpPr>
        <p:spPr>
          <a:xfrm>
            <a:off x="1117600" y="4622799"/>
            <a:ext cx="58801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125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5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 &lt; −d </a:t>
            </a:r>
            <a:r>
              <a:rPr lang="zh-CN" altLang="en-US" sz="125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25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 </a:t>
            </a:r>
            <a:r>
              <a:rPr lang="zh-CN" altLang="en-US" sz="125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成立），且中心保护关闭</a:t>
            </a:r>
          </a:p>
        </p:txBody>
      </p:sp>
      <p:sp>
        <p:nvSpPr>
          <p:cNvPr id="24" name="动作4"/>
          <p:cNvSpPr txBox="1"/>
          <p:nvPr/>
        </p:nvSpPr>
        <p:spPr>
          <a:xfrm>
            <a:off x="1117600" y="4876800"/>
            <a:ext cx="58801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118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未达降曝下限时降低 </a:t>
            </a:r>
            <a:r>
              <a:rPr lang="en-US" altLang="zh-CN" sz="118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Δ</a:t>
            </a:r>
            <a:r>
              <a:rPr lang="zh-CN" altLang="en-US" sz="118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cxnSp>
        <p:nvCxnSpPr>
          <p:cNvPr id="25" name="直接连接符 24"/>
          <p:cNvCxnSpPr/>
          <p:nvPr/>
        </p:nvCxnSpPr>
        <p:spPr>
          <a:xfrm>
            <a:off x="1117600" y="5156200"/>
            <a:ext cx="5867400" cy="0"/>
          </a:xfrm>
          <a:prstGeom prst="line">
            <a:avLst/>
          </a:prstGeom>
          <a:ln w="7620">
            <a:solidFill>
              <a:srgbClr val="D8DD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序号5"/>
          <p:cNvSpPr txBox="1"/>
          <p:nvPr/>
        </p:nvSpPr>
        <p:spPr>
          <a:xfrm>
            <a:off x="711200" y="5194299"/>
            <a:ext cx="3175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zh-CN" b="1">
                <a:solidFill>
                  <a:srgbClr val="F15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b="1">
              <a:solidFill>
                <a:srgbClr val="F15A0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条件5"/>
          <p:cNvSpPr txBox="1"/>
          <p:nvPr/>
        </p:nvSpPr>
        <p:spPr>
          <a:xfrm>
            <a:off x="1117600" y="5194299"/>
            <a:ext cx="58801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125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其他情况</a:t>
            </a:r>
          </a:p>
        </p:txBody>
      </p:sp>
      <p:sp>
        <p:nvSpPr>
          <p:cNvPr id="28" name="动作5"/>
          <p:cNvSpPr txBox="1"/>
          <p:nvPr/>
        </p:nvSpPr>
        <p:spPr>
          <a:xfrm>
            <a:off x="1117600" y="5448300"/>
            <a:ext cx="58801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118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保持：死区、保护或边界限制。</a:t>
            </a:r>
          </a:p>
        </p:txBody>
      </p:sp>
      <p:sp>
        <p:nvSpPr>
          <p:cNvPr id="29" name="步幅标题"/>
          <p:cNvSpPr txBox="1"/>
          <p:nvPr/>
        </p:nvSpPr>
        <p:spPr>
          <a:xfrm>
            <a:off x="6574155" y="1549400"/>
            <a:ext cx="40767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140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步幅与累计范围</a:t>
            </a:r>
          </a:p>
        </p:txBody>
      </p:sp>
      <p:sp>
        <p:nvSpPr>
          <p:cNvPr id="30" name="步幅内容"/>
          <p:cNvSpPr txBox="1"/>
          <p:nvPr/>
        </p:nvSpPr>
        <p:spPr>
          <a:xfrm>
            <a:off x="6574155" y="1866899"/>
            <a:ext cx="4076700" cy="1028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Δ </a:t>
            </a: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目标约 </a:t>
            </a:r>
            <a:r>
              <a:rPr lang="en-US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1/3 EV</a:t>
            </a: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，按硬件步进向上取整：</a:t>
            </a:r>
          </a:p>
          <a:p>
            <a:pPr>
              <a:lnSpc>
                <a:spcPct val="105000"/>
              </a:lnSpc>
            </a:pP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步进 </a:t>
            </a:r>
            <a:r>
              <a:rPr lang="en-US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1/3 → Δ=1/3</a:t>
            </a: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0.1 → 0.4</a:t>
            </a: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0.5 → 0.5</a:t>
            </a: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05000"/>
              </a:lnSpc>
            </a:pP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相对用户基线：−</a:t>
            </a:r>
            <a:r>
              <a:rPr lang="en-US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2/3</a:t>
            </a: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+1 EV </a:t>
            </a: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内，</a:t>
            </a:r>
          </a:p>
          <a:p>
            <a:pPr>
              <a:lnSpc>
                <a:spcPct val="105000"/>
              </a:lnSpc>
            </a:pP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按硬件步进向内取整，再受相机范围限制。</a:t>
            </a:r>
          </a:p>
          <a:p>
            <a:pPr>
              <a:lnSpc>
                <a:spcPct val="105000"/>
              </a:lnSpc>
            </a:pP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到边界截断，最后一次可能小于 </a:t>
            </a:r>
            <a:r>
              <a:rPr lang="en-US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Δ</a:t>
            </a: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31" name="时序标题"/>
          <p:cNvSpPr txBox="1"/>
          <p:nvPr/>
        </p:nvSpPr>
        <p:spPr>
          <a:xfrm>
            <a:off x="6574155" y="2959100"/>
            <a:ext cx="40767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140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不是每帧都调整</a:t>
            </a:r>
          </a:p>
        </p:txBody>
      </p:sp>
      <p:sp>
        <p:nvSpPr>
          <p:cNvPr id="32" name="时序内容"/>
          <p:cNvSpPr txBox="1"/>
          <p:nvPr/>
        </p:nvSpPr>
        <p:spPr>
          <a:xfrm>
            <a:off x="6574155" y="3276599"/>
            <a:ext cx="40767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 </a:t>
            </a:r>
            <a:r>
              <a:rPr lang="en-US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条新统计要求同方向才调一次。</a:t>
            </a:r>
          </a:p>
          <a:p>
            <a:pPr>
              <a:lnSpc>
                <a:spcPct val="105000"/>
              </a:lnSpc>
            </a:pP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调后等待 </a:t>
            </a:r>
            <a:r>
              <a:rPr lang="en-US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 s</a:t>
            </a: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，再重新累计；反向或</a:t>
            </a:r>
          </a:p>
          <a:p>
            <a:pPr>
              <a:lnSpc>
                <a:spcPct val="105000"/>
              </a:lnSpc>
            </a:pP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保持会重计，重复样本不累计。</a:t>
            </a:r>
          </a:p>
          <a:p>
            <a:pPr>
              <a:lnSpc>
                <a:spcPct val="105000"/>
              </a:lnSpc>
            </a:pP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注意：这里是 </a:t>
            </a:r>
            <a:r>
              <a:rPr lang="en-US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条，不是自动 </a:t>
            </a:r>
            <a:r>
              <a:rPr lang="en-US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HDR </a:t>
            </a: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-US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条。</a:t>
            </a:r>
          </a:p>
        </p:txBody>
      </p:sp>
      <p:sp>
        <p:nvSpPr>
          <p:cNvPr id="33" name="回升标题"/>
          <p:cNvSpPr txBox="1"/>
          <p:nvPr/>
        </p:nvSpPr>
        <p:spPr>
          <a:xfrm>
            <a:off x="6574155" y="4165600"/>
            <a:ext cx="40767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140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负补偿回升的额外门槛</a:t>
            </a:r>
          </a:p>
        </p:txBody>
      </p:sp>
      <p:sp>
        <p:nvSpPr>
          <p:cNvPr id="34" name="回升内容"/>
          <p:cNvSpPr txBox="1"/>
          <p:nvPr/>
        </p:nvSpPr>
        <p:spPr>
          <a:xfrm>
            <a:off x="6574155" y="4470399"/>
            <a:ext cx="4076700" cy="673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余量不足：</a:t>
            </a:r>
            <a:r>
              <a:rPr lang="en-US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 &lt; 0 </a:t>
            </a: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且 </a:t>
            </a:r>
            <a:r>
              <a:rPr lang="en-US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P99 ≥ T</a:t>
            </a: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05000"/>
              </a:lnSpc>
            </a:pPr>
            <a:r>
              <a:rPr lang="en-US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 = floor(16 + 219 / 2^</a:t>
            </a:r>
            <a:r>
              <a:rPr lang="el-GR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Δ − 8)</a:t>
            </a:r>
          </a:p>
          <a:p>
            <a:pPr>
              <a:lnSpc>
                <a:spcPct val="105000"/>
              </a:lnSpc>
            </a:pPr>
            <a:r>
              <a:rPr lang="el-GR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Δ=1/3 </a:t>
            </a: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 </a:t>
            </a:r>
            <a:r>
              <a:rPr lang="en-US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T=181</a:t>
            </a: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；第 </a:t>
            </a:r>
            <a:r>
              <a:rPr lang="en-US" altLang="zh-CN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117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条暗部恢复优先。</a:t>
            </a:r>
          </a:p>
        </p:txBody>
      </p:sp>
      <p:sp>
        <p:nvSpPr>
          <p:cNvPr id="35" name="接口标题"/>
          <p:cNvSpPr txBox="1"/>
          <p:nvPr/>
        </p:nvSpPr>
        <p:spPr>
          <a:xfrm>
            <a:off x="6574155" y="5207000"/>
            <a:ext cx="40767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127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只请求整幅 </a:t>
            </a:r>
            <a:r>
              <a:rPr lang="en-US" altLang="zh-CN" sz="127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</a:t>
            </a:r>
            <a:r>
              <a:rPr lang="zh-CN" altLang="en-US" sz="127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，不分别设置 </a:t>
            </a:r>
            <a:r>
              <a:rPr lang="en-US" altLang="zh-CN" sz="127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ISO / </a:t>
            </a:r>
            <a:r>
              <a:rPr lang="zh-CN" altLang="en-US" sz="1270" b="1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快门</a:t>
            </a:r>
          </a:p>
        </p:txBody>
      </p:sp>
      <p:sp>
        <p:nvSpPr>
          <p:cNvPr id="36" name="接口内容"/>
          <p:cNvSpPr txBox="1"/>
          <p:nvPr/>
        </p:nvSpPr>
        <p:spPr>
          <a:xfrm>
            <a:off x="6574155" y="5511800"/>
            <a:ext cx="40767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1080">
                <a:solidFill>
                  <a:srgbClr val="626B7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相机 </a:t>
            </a:r>
            <a:r>
              <a:rPr lang="en-US" altLang="zh-CN" sz="1080">
                <a:solidFill>
                  <a:srgbClr val="626B7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AE </a:t>
            </a:r>
            <a:r>
              <a:rPr lang="zh-CN" altLang="en-US" sz="1080">
                <a:solidFill>
                  <a:srgbClr val="626B7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决定实际 </a:t>
            </a:r>
            <a:r>
              <a:rPr lang="en-US" altLang="zh-CN" sz="1080">
                <a:solidFill>
                  <a:srgbClr val="626B7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ISO / </a:t>
            </a:r>
            <a:r>
              <a:rPr lang="zh-CN" altLang="en-US" sz="1080">
                <a:solidFill>
                  <a:srgbClr val="626B7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快门；不是分区独立曝光。</a:t>
            </a:r>
          </a:p>
        </p:txBody>
      </p:sp>
      <p:sp>
        <p:nvSpPr>
          <p:cNvPr id="37" name="矩形 36"/>
          <p:cNvSpPr/>
          <p:nvPr/>
        </p:nvSpPr>
        <p:spPr>
          <a:xfrm>
            <a:off x="698500" y="5918200"/>
            <a:ext cx="10858500" cy="520700"/>
          </a:xfrm>
          <a:prstGeom prst="rect">
            <a:avLst/>
          </a:prstGeom>
          <a:solidFill>
            <a:srgbClr val="FFF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运行边界"/>
          <p:cNvSpPr txBox="1"/>
          <p:nvPr/>
        </p:nvSpPr>
        <p:spPr>
          <a:xfrm>
            <a:off x="850900" y="5994399"/>
            <a:ext cx="105537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111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仅在「逆光平衡」有效时运行；点击测光、手动快门、校准、参数面板、后台及测量等流程会暂停。</a:t>
            </a:r>
          </a:p>
          <a:p>
            <a:pPr>
              <a:lnSpc>
                <a:spcPct val="105000"/>
              </a:lnSpc>
            </a:pPr>
            <a:r>
              <a:rPr lang="zh-CN" altLang="en-US" sz="111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统计无效或超过 </a:t>
            </a:r>
            <a:r>
              <a:rPr lang="en-US" altLang="zh-CN" sz="111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 s </a:t>
            </a:r>
            <a:r>
              <a:rPr lang="zh-CN" altLang="en-US" sz="1110">
                <a:solidFill>
                  <a:srgbClr val="252A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未更新时撤销自动补偿；显示端局部映射是另一条链路，不能恢复已丢失细节。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2126</Words>
  <Application>Microsoft Office PowerPoint</Application>
  <PresentationFormat>宽屏</PresentationFormat>
  <Paragraphs>96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맑은 고딕</vt:lpstr>
      <vt:lpstr>等线</vt:lpstr>
      <vt:lpstr>微软雅黑</vt:lpstr>
      <vt:lpstr>Arial</vt:lpstr>
      <vt:lpstr>Times New Roman</vt:lpstr>
      <vt:lpstr>Wingdings</vt:lpstr>
      <vt:lpstr>Office 테마</vt:lpstr>
      <vt:lpstr>四边测光逻辑：五区划分与亮度统计</vt:lpstr>
      <vt:lpstr>四边测光逻辑：EV 决策与保护机制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SUKGYUN KANG</dc:creator>
  <cp:lastModifiedBy>HS</cp:lastModifiedBy>
  <cp:revision>16</cp:revision>
  <dcterms:created xsi:type="dcterms:W3CDTF">2024-12-17T03:29:00Z</dcterms:created>
  <dcterms:modified xsi:type="dcterms:W3CDTF">2026-09-22T11:19:29Z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909669405B3A4EE99F67D477EEEEBC17_12</vt:lpwstr>
  </property>
  <property fmtid="{D5CDD505-2E9C-101B-9397-08002B2CF9AE}" pid="3" name="KSOProductBuildVer">
    <vt:lpwstr>2052-12.1.0.28505</vt:lpwstr>
  </property>
</Properties>
</file>